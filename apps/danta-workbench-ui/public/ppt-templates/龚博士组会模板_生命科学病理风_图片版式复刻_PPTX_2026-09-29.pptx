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8a4068ab28426c" /><Relationship Type="http://schemas.openxmlformats.org/officeDocument/2006/relationships/extended-properties" Target="/docProps/app.xml" Id="Rc17dc7ea1a294f0a" /><Relationship Type="http://schemas.openxmlformats.org/officeDocument/2006/relationships/officeDocument" Target="/ppt/presentation.xml" Id="Rcf15c2390eb74a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635364b1d04a0b"/>
  </p:sldMasterIdLst>
  <p:notesMasterIdLst>
    <p:notesMasterId xmlns:r="http://schemas.openxmlformats.org/officeDocument/2006/relationships" r:id="R91f81f139d7a49d6"/>
  </p:notesMasterIdLst>
  <p:sldIdLst>
    <p:sldId xmlns:r="http://schemas.openxmlformats.org/officeDocument/2006/relationships" id="256" r:id="R5059e1921b1945c1"/>
    <p:sldId xmlns:r="http://schemas.openxmlformats.org/officeDocument/2006/relationships" id="257" r:id="R3ec53e5e666b4aae"/>
    <p:sldId xmlns:r="http://schemas.openxmlformats.org/officeDocument/2006/relationships" id="258" r:id="R56c14e2d23b148fb"/>
    <p:sldId xmlns:r="http://schemas.openxmlformats.org/officeDocument/2006/relationships" id="259" r:id="R1dcf3c4fe94d43d2"/>
    <p:sldId xmlns:r="http://schemas.openxmlformats.org/officeDocument/2006/relationships" id="260" r:id="Rd91ab4e6c6724c16"/>
    <p:sldId xmlns:r="http://schemas.openxmlformats.org/officeDocument/2006/relationships" id="261" r:id="Rbe489d7f5091460c"/>
    <p:sldId xmlns:r="http://schemas.openxmlformats.org/officeDocument/2006/relationships" id="262" r:id="Rdb4051e488aa45fc"/>
    <p:sldId xmlns:r="http://schemas.openxmlformats.org/officeDocument/2006/relationships" id="263" r:id="Red23126459c04de1"/>
    <p:sldId xmlns:r="http://schemas.openxmlformats.org/officeDocument/2006/relationships" id="264" r:id="Rb41add428a98485c"/>
    <p:sldId xmlns:r="http://schemas.openxmlformats.org/officeDocument/2006/relationships" id="265" r:id="Rb4c2cdac43944d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869fc59b5948fe" /><Relationship Type="http://schemas.openxmlformats.org/officeDocument/2006/relationships/slideMaster" Target="/ppt/slideMasters/slideMaster1.xml" Id="R43635364b1d04a0b" /><Relationship Type="http://schemas.openxmlformats.org/officeDocument/2006/relationships/notesMaster" Target="/ppt/notesMasters/notesMaster1.xml" Id="R91f81f139d7a49d6" /><Relationship Type="http://schemas.openxmlformats.org/officeDocument/2006/relationships/presProps" Target="/ppt/presProps.xml" Id="Rdbfc46e1234742e0" /><Relationship Type="http://schemas.openxmlformats.org/officeDocument/2006/relationships/tableStyles" Target="/ppt/tableStyles.xml" Id="R0a0960e3c8a94d84" /><Relationship Type="http://schemas.openxmlformats.org/officeDocument/2006/relationships/slide" Target="/ppt/slides/slide1.xml" Id="R5059e1921b1945c1" /><Relationship Type="http://schemas.openxmlformats.org/officeDocument/2006/relationships/slide" Target="/ppt/slides/slide2.xml" Id="R3ec53e5e666b4aae" /><Relationship Type="http://schemas.openxmlformats.org/officeDocument/2006/relationships/slide" Target="/ppt/slides/slide3.xml" Id="R56c14e2d23b148fb" /><Relationship Type="http://schemas.openxmlformats.org/officeDocument/2006/relationships/slide" Target="/ppt/slides/slide4.xml" Id="R1dcf3c4fe94d43d2" /><Relationship Type="http://schemas.openxmlformats.org/officeDocument/2006/relationships/slide" Target="/ppt/slides/slide5.xml" Id="Rd91ab4e6c6724c16" /><Relationship Type="http://schemas.openxmlformats.org/officeDocument/2006/relationships/slide" Target="/ppt/slides/slide6.xml" Id="Rbe489d7f5091460c" /><Relationship Type="http://schemas.openxmlformats.org/officeDocument/2006/relationships/slide" Target="/ppt/slides/slide7.xml" Id="Rdb4051e488aa45fc" /><Relationship Type="http://schemas.openxmlformats.org/officeDocument/2006/relationships/slide" Target="/ppt/slides/slide8.xml" Id="Red23126459c04de1" /><Relationship Type="http://schemas.openxmlformats.org/officeDocument/2006/relationships/slide" Target="/ppt/slides/slide9.xml" Id="Rb41add428a98485c" /><Relationship Type="http://schemas.openxmlformats.org/officeDocument/2006/relationships/slide" Target="/ppt/slides/slide10.xml" Id="Rb4c2cdac43944d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a1f73afc3449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7d018810334288" /><Relationship Type="http://schemas.openxmlformats.org/officeDocument/2006/relationships/notesMaster" Target="/ppt/notesMasters/notesMaster1.xml" Id="R53ee22f4a0644e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bd5682198e412a" /><Relationship Type="http://schemas.openxmlformats.org/officeDocument/2006/relationships/notesMaster" Target="/ppt/notesMasters/notesMaster1.xml" Id="R570273a28c9a4f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df8be3f80444f1" /><Relationship Type="http://schemas.openxmlformats.org/officeDocument/2006/relationships/notesMaster" Target="/ppt/notesMasters/notesMaster1.xml" Id="Raadd8194051040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8d094262e54a1f" /><Relationship Type="http://schemas.openxmlformats.org/officeDocument/2006/relationships/notesMaster" Target="/ppt/notesMasters/notesMaster1.xml" Id="R7721cea2492d4e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63d7a5275c412a" /><Relationship Type="http://schemas.openxmlformats.org/officeDocument/2006/relationships/notesMaster" Target="/ppt/notesMasters/notesMaster1.xml" Id="R98285290fade44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428532980b494c" /><Relationship Type="http://schemas.openxmlformats.org/officeDocument/2006/relationships/notesMaster" Target="/ppt/notesMasters/notesMaster1.xml" Id="R85a2134834e1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0533fd0cf949cc" /><Relationship Type="http://schemas.openxmlformats.org/officeDocument/2006/relationships/notesMaster" Target="/ppt/notesMasters/notesMaster1.xml" Id="R92806b6621ec47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941fa485c4dbd" /><Relationship Type="http://schemas.openxmlformats.org/officeDocument/2006/relationships/notesMaster" Target="/ppt/notesMasters/notesMaster1.xml" Id="R9acbd92dd76b4c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dbe09974754f99" /><Relationship Type="http://schemas.openxmlformats.org/officeDocument/2006/relationships/notesMaster" Target="/ppt/notesMasters/notesMaster1.xml" Id="R076f744e02f149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a1772b6ac74ce8" /><Relationship Type="http://schemas.openxmlformats.org/officeDocument/2006/relationships/notesMaster" Target="/ppt/notesMasters/notesMaster1.xml" Id="R725e7a2421ef4b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ac0619e7a42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0495849494ab0" /><Relationship Type="http://schemas.openxmlformats.org/officeDocument/2006/relationships/slideLayout" Target="/ppt/slideLayouts/slideLayout1.xml" Id="Radf15fcab352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f15fcab352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a20b87ad24304" /><Relationship Type="http://schemas.openxmlformats.org/officeDocument/2006/relationships/image" Target="/ppt/media/image.png" Id="Rdae1fa0d5108489f" /><Relationship Type="http://schemas.openxmlformats.org/officeDocument/2006/relationships/notesSlide" Target="/ppt/notesSlides/notesSlide1.xml" Id="R28f763ee920c40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0aaa56ed34560" /><Relationship Type="http://schemas.openxmlformats.org/officeDocument/2006/relationships/notesSlide" Target="/ppt/notesSlides/notesSlide2.xml" Id="R5a9f0c45eee74c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0c260f2246cb" /><Relationship Type="http://schemas.openxmlformats.org/officeDocument/2006/relationships/notesSlide" Target="/ppt/notesSlides/notesSlide3.xml" Id="Rf12a29229eb343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91dc2faca4f00" /><Relationship Type="http://schemas.openxmlformats.org/officeDocument/2006/relationships/notesSlide" Target="/ppt/notesSlides/notesSlide4.xml" Id="R2c837da821de46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206b33d2f4cef" /><Relationship Type="http://schemas.openxmlformats.org/officeDocument/2006/relationships/notesSlide" Target="/ppt/notesSlides/notesSlide5.xml" Id="R33b549ef0aaf45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ebee1384db4b9b" /><Relationship Type="http://schemas.openxmlformats.org/officeDocument/2006/relationships/notesSlide" Target="/ppt/notesSlides/notesSlide6.xml" Id="R2113e720cd4348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ddd0001124f71" /><Relationship Type="http://schemas.openxmlformats.org/officeDocument/2006/relationships/notesSlide" Target="/ppt/notesSlides/notesSlide7.xml" Id="Rf208cb6ce5854b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503584fc44e21" /><Relationship Type="http://schemas.openxmlformats.org/officeDocument/2006/relationships/notesSlide" Target="/ppt/notesSlides/notesSlide8.xml" Id="R5c50cd40e9444e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6ef0445a24675" /><Relationship Type="http://schemas.openxmlformats.org/officeDocument/2006/relationships/notesSlide" Target="/ppt/notesSlides/notesSlide9.xml" Id="Rb7b024e54e6f42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561344190411f" /><Relationship Type="http://schemas.openxmlformats.org/officeDocument/2006/relationships/notesSlide" Target="/ppt/notesSlides/notesSlide10.xml" Id="R56ff3bfcb22543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7D6A5-68CD-4CEA-9CD8-53AF4410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1fa0d5108489f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CADAE-26E7-40B3-87E8-57C294DF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66103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3ABB0-C512-4E54-8109-4868B4E3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143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9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1D668-FDDF-49B8-BFEB-C89DDC78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D4E1D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4E1D1"/>
                </a:solidFill>
                <a:latin typeface="PingFang SC"/>
                <a:ea typeface="PingFang SC"/>
                <a:cs typeface="PingFang SC"/>
              </a:rPr>
              <a:t>GONG LAB  /  PATHOLOGY GROUP MEETING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21BCF-2AA7-4920-B578-66ED29DB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研究生组会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48B03-F7E9-42EC-93EE-DD8120D2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文献汇报与阶段进展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FADD8-0EFD-45B5-A48A-08D49CA2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课题名称：［填写研究方向或汇报主题］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BA869-1C51-4B23-BDAF-8203226F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2A99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E4C72-08FF-4348-8A10-B57CD76A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D4E1D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4E1D1"/>
                </a:solidFill>
                <a:latin typeface="PingFang SC"/>
                <a:ea typeface="PingFang SC"/>
                <a:cs typeface="PingFang SC"/>
              </a:rPr>
              <a:t>汇报人：龚博士    汇报时间：［日期］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4C558-B7D9-48E2-A2D9-1FEB397A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D4E1D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D4E1D1"/>
                </a:solidFill>
                <a:latin typeface="PingFang SC"/>
                <a:ea typeface="PingFang SC"/>
                <a:cs typeface="PingFang SC"/>
              </a:rPr>
              <a:t>研究背景    研究设计    病理图像    结果讨论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96255-41A1-4554-A1A8-853F53E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57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ECA8C-0EA6-49FF-AF13-BC42A08C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523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组织结构  /  细胞形态  /  病理图像</a:t>
            </a:r>
          </a:p>
        </p:txBody>
      </p:sp>
    </p:spTree>
    <p:extLst>
      <p:ext uri="{BB962C8B-B14F-4D97-AF65-F5344CB8AC3E}">
        <p14:creationId xmlns:p14="http://schemas.microsoft.com/office/powerpoint/2010/main" val="58396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FAD6A-9F9E-4125-AAD8-465C2C9D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ED507-EFE3-4B11-9BA0-E57BD68C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E7C3-B71F-42A9-B429-961930E8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490E2-B65A-499F-A95A-38937FB1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CB06D-8D21-4EBA-A48D-091D929B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60600-95F7-46DD-9B60-00D54F76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5DBEB-8384-41DB-B062-D55FB799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62ADB-BF08-472B-8BA2-5EB0585E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438C5-B1DF-4BBE-94B5-F5F1713B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02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0BB01-F48D-4328-9B03-5A5E3D5F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76D92-1687-43A2-8D7E-243C9CC9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TODAY’S DISCUSSION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C6E68-2C7A-43BA-8F58-73767D79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905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C8394-971F-4102-861E-10DE68B3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478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9FFF2-3B9A-4C18-A7D9-BF9B831C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0225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F97E2-855A-463D-A0FD-0301C050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28775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文献与研究问题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B98CD-ECE5-4B2C-B04B-378E1B86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33600"/>
            <a:ext cx="9658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534E51-295A-4B11-99DF-EEB1B1B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574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69755-9230-42A7-9B71-4F8675C1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10C44D-5252-4548-8CC3-C8026351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38400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研究背景与科学假设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7DB25-CCDC-454C-BD16-4867FDD8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43225"/>
            <a:ext cx="9658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1D2FCD-CBE5-4DDF-81A4-BBA9855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67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CF1D96-A20B-4E4F-AE64-25F7CF6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3658F7-CA25-4C59-A325-FA70FFA0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48025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研究设计与技术路线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3B74-8D18-4AD8-98EC-B8DE8078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9658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9D187-78F4-41F8-A180-135BA43D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767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2C7170-7A35-4570-8D5D-89BB7CC8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330EBE-34A3-493C-9C30-D9F61052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阶段进展与结果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7C34E1-B96F-460F-B7A6-AA0A2FCC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62475"/>
            <a:ext cx="9658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6B14C2-B2BF-4AB0-A295-D3FAD2E5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863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D6A24-9086-42C0-9F83-B437F58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38725"/>
            <a:ext cx="20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BE8325-0C9E-4A77-94B9-6729F50E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67275"/>
            <a:ext cx="699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结论、讨论与计划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19CFD4-06FC-42F4-9828-4AA583A9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9658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8B773A-DAEB-49EB-8650-FD6BC93A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293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从研究问题出发，依次呈现证据、方法和下一步计划。</a:t>
            </a:r>
          </a:p>
        </p:txBody>
      </p:sp>
    </p:spTree>
    <p:extLst>
      <p:ext uri="{BB962C8B-B14F-4D97-AF65-F5344CB8AC3E}">
        <p14:creationId xmlns:p14="http://schemas.microsoft.com/office/powerpoint/2010/main" val="4573453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91442-4783-4874-A0E3-2ADDC23A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DB861-CC09-44C4-A6C8-C89F7EF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23C35-9E78-4E7D-821B-0E57FAC9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4DF0F-BF68-4B62-9559-21411450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文献概览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8E121-6DD8-4E45-940B-04FC92D7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23482-8886-41B0-9B1B-B578E8DB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93127-2E0C-4D5D-9A0D-7D5E718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D7785-979F-48BA-B0FB-0D46AC75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8EE83-20D1-42E2-AD2C-865DD2F5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03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A361C-0739-4154-9691-C7DAB1A0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BA257-4DED-4F55-B4CF-938CA310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［论文研究问题与主要结论摘要］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AD931-D296-40CE-91E0-ACC0A08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47825"/>
            <a:ext cx="3105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作者：［作者］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期刊：［期刊与年份］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研究对象：［对象］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DOI：［链接］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21EA1-9A72-42F5-AB0C-CA193A93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219200"/>
            <a:ext cx="77343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3A7AA-7804-4101-B86B-C7C4E7F2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333500"/>
            <a:ext cx="750570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4B1CD-FC94-4D0C-A3D0-7538DD5A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90763"/>
            <a:ext cx="727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关键病理图像占位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AA777-E7EE-45FE-9D14-675122AA1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05088"/>
            <a:ext cx="7277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替换为文献中的代表性组织 / 细胞图像，注明原文图号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C87D9-961B-419D-8BA4-AB10FB85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81449-5B3C-43A0-B5E1-FE2FEED7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2A99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F7383-F2AF-4CBB-80CF-5D9C5046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［根据文献原文填写摘要，并标注出处］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9C706A-F7A1-4A88-86FC-3390A10F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147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方法概要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4D27D-3277-474A-BF82-0A931629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386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2A99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2CA5B-C7A8-497D-8BF9-FF4D5F5A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9100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［根据文献原文填写摘要，并标注出处］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C43FF2-97F7-4479-801C-71C1662C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主要发现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0F803-CDCA-4B1C-BB1E-0BE8F7B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2A99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D00030-C45C-4D6A-8DF4-3BB70834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335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［根据文献原文填写摘要，并标注出处］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3DA9B-6690-4B9A-A360-86732F9B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文献来源：［作者，期刊，年份，图号］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DE3E6-2BB8-4AAB-9C95-F2035A2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1116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与本研究的联系：［填写］</a:t>
            </a:r>
          </a:p>
        </p:txBody>
      </p:sp>
    </p:spTree>
    <p:extLst>
      <p:ext uri="{BB962C8B-B14F-4D97-AF65-F5344CB8AC3E}">
        <p14:creationId xmlns:p14="http://schemas.microsoft.com/office/powerpoint/2010/main" val="1845798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1B26C2-B9BD-45A8-AE46-B7F409FB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D83E7-04F2-4285-B311-A65C0B63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09010-CF0C-450E-945B-75925D5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51FFB-CD66-444D-BA79-0A0388F9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E74A0-C223-4B9D-A07F-E33BB8C8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E8D59-62C1-4FE3-98CA-A3551702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75CB9-8C1D-41C1-B50D-79516353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EB75C-13DB-4A81-95C9-2855491D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0DD15-6DAA-410F-B97D-317FF6C4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04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3E812-67F9-45D1-B7CC-56899990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2B871-86C0-4C8E-89CA-2EEBBA6E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背景要点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7FF11-F36F-4B98-AD17-CF7B6B47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049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CEFCD-9016-4DDC-B5CF-4286185D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97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79986-043D-4904-A99B-D1CEAF29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85925"/>
            <a:ext cx="2819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研究现状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B5134A-D448-4AB8-9F94-19D0C82F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716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［关键认识与文献来源］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53CEE-78B3-4C02-A1A3-502895CA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86025"/>
            <a:ext cx="2819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592CE-E6B0-48C0-A284-EA63DA4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3FEE2-A30D-4EC5-B231-0E4F967E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CF079-C471-406F-B92A-A090CC77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2819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病理证据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1005E5-0F13-4271-9C33-A66A3DC8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［组织或细胞层面的已有证据］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5F2DC-0BD4-4FAB-B28A-C38BDCE2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19475"/>
            <a:ext cx="2819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24E0D-2F97-4A8B-BE14-8D940EBC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D2CC4-4F72-4544-9CB7-3971FA86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6182D-70CD-474D-B533-27A725DD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52825"/>
            <a:ext cx="2819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研究空白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84219-D1FD-4348-B6E9-3178EA01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38575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［仍待解释的病理学问题］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E77660-FE4C-468F-92D5-AC7A4DF1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52925"/>
            <a:ext cx="2819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EA40D-382C-4AEE-B3AD-B3213885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219200"/>
            <a:ext cx="9525" cy="398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90519F-4ED0-41E8-83F4-B1E7B2F1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304925"/>
            <a:ext cx="73723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10935E-1653-4F24-BA2A-FF35A9D4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19225"/>
            <a:ext cx="7143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91C55-8AE0-40B0-9F88-F1EC5B66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4790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代表性组织学图像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0C8D62-556E-4A09-9094-535ECCE8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62225"/>
            <a:ext cx="691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替换为真实切片 / 染色结果，并标明来源、倍率与比例尺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74707B-EF3A-498A-BD8D-BAF0CC1B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22669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FDDFBE-900B-4053-9206-91FF6E86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2038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35505E-0C35-4AAB-80C1-0ED8F3C5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辅助证据 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F2E718-6277-4217-9291-CD57CE7C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19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图号 / 来源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C337D4-A73F-4A9E-B42F-72F8A85A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22669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936CA1-A41D-49BB-B0F7-3567BA45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2038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DDB4AE-AA4A-44CB-8E1E-25284BA3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辅助证据 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B48BE0-5A24-4190-9596-80BC0BF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96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图号 / 来源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309103-B0E5-454D-8BEC-97D1859F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90950"/>
            <a:ext cx="2381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B4D02E-FFEB-40B9-A3BB-5B907F90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05250"/>
            <a:ext cx="2152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B2998D-B99F-4DE6-94EB-27869B0A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053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辅助证据 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DED986-30F4-4396-BC28-5789027A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9625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图号 / 来源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C2B28F-466D-421F-8649-C4E6A542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43550"/>
            <a:ext cx="1116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研究问题：［将背景收束为一个可检验的问题］</a:t>
            </a:r>
          </a:p>
        </p:txBody>
      </p:sp>
    </p:spTree>
    <p:extLst>
      <p:ext uri="{BB962C8B-B14F-4D97-AF65-F5344CB8AC3E}">
        <p14:creationId xmlns:p14="http://schemas.microsoft.com/office/powerpoint/2010/main" val="1634173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0A211D-A70E-4ED6-A088-94112D80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D6EF9-6A09-4C8B-91DE-7E7F195C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F1D1A-E822-4C99-A851-59EBEC75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A795A-B42E-481A-BD9D-DEDFDEAF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研究目标与科学假设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85141-8DED-4FC9-8E55-DF8565DC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4048FC-95C8-4DA8-B727-041FEB41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3F20B-9969-4002-9BDD-636B4ECD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DEB51-6C1E-4D55-9F2F-2E514ABC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24B4E-88A0-4B66-A764-A5F80A95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05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93B9C-725F-4A70-B4E4-CC2A7A2D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46F6E-C82B-490A-9A23-AF7567B5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23494-19F2-444E-90C2-016D92A8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BEDB-8690-4F56-8C58-4E3D0A79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31FE3-611E-4017-8602-D405158C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AIM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D8E92-B568-4CA3-8D8C-31E8A21E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目标一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615F6-0B2F-4DEA-A4C3-7EDE21C8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27764-4739-44BA-8F52-C57071B3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3DB3E-8BCB-4CDA-8EAC-2C0D715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76400"/>
            <a:ext cx="9525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D4958-1F01-49B1-9E81-FF2CCF3C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AIM 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9C939-A8D7-4C59-B1E5-0F91F1EE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目标二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25A5B-3DC2-429C-8FBD-E736FE77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8EAED-D5E3-4EA6-8FF5-41D551C7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D4142-427B-4679-BC36-1A3E3A10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676400"/>
            <a:ext cx="9525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6EADC-2366-40E8-8588-4C678050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AIM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012B5-3018-47D5-9AEE-300B3820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目标三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FEB4B9-A396-4350-96C2-DFB83A06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9F29B2-A53D-451B-B4B2-31F34BBD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CAB85-04BB-49C8-BA92-423DCB2D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科学假设与预期关系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A67485-A447-4187-A72F-E777B1BD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DBB406-7302-4A7A-9159-AA0C4401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22565-9E19-4163-BABA-019B281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02B4CB-97FC-4A33-8C11-DDB69D82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研究对象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13298F-B544-45C3-87F8-113DF8E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［人群 / 模型］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0BB84-DF86-49BA-8A3F-E2194AC8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398053-B99B-4AE2-AE96-F8F1E39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84A0B0-C372-4C67-9E33-7527AD8A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330220-336E-4D70-9ABE-64926F97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关键因素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58AE92-E5A5-4E76-BE13-87190B4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［暴露 / 处理］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131283-9929-4287-B4A4-397CD2CB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F1C806-A6B2-4F40-9CEE-1E5DCF9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8AD992-9982-4B69-894D-E68C8D1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D6738B-9B37-4D83-BA39-BD2A0DD6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作用机制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BA15C6-CACA-4A85-B0EB-8079C73F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［中间环节］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C49C45-E48D-4633-8793-3D0B46C4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EA74EB-2830-493D-A30B-09ECFE9D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836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C152AF-2B69-4CF5-9266-DADFC431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F8AF2C-5FAB-45A5-B103-47079FDB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研究结局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67ADAE-E0B6-4DEC-B3DA-0F3349A2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［主要结局］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3E539B-9B1E-4381-A957-2BDC38AD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假设：［用一句话写出预期方向及其理论依据］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0E8B9F-C8CD-4FE6-A456-473A1C32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请把“预期”与“已经观察到的结果”分开表述。</a:t>
            </a:r>
          </a:p>
        </p:txBody>
      </p:sp>
    </p:spTree>
    <p:extLst>
      <p:ext uri="{BB962C8B-B14F-4D97-AF65-F5344CB8AC3E}">
        <p14:creationId xmlns:p14="http://schemas.microsoft.com/office/powerpoint/2010/main" val="378703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A5A2BD-7613-49B3-B055-15C67A77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38812-D419-4464-9CAE-2ECAA244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2BC24-AEC3-4501-BFE5-DEE1E261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F8506-95E0-4D29-AB60-AA755906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083DE-C896-4784-AEB0-CE150473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13AEC-BCF5-4E0D-8D52-D99DA1D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B99BF-9A7D-4340-9F74-CA28E96A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8FEC3-87D3-4E68-8BBA-120186C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4ECC1-16CA-47C4-9DED-826612D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06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F58AB-8A18-45A9-83B6-C29C5CA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0440B-E7CA-4107-B839-CC1EAB90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4E2A9-321E-4E49-BC4C-1F775F64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525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样本与材料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FE137-E4C1-44EA-82CB-71AF3997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［样本来源、组织类型及分组标准］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76646-F599-4821-BE93-D08C573D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C0D99-8FDF-469C-8152-50370E5A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03B3E-5ADF-422A-87A3-5DF01565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病理流程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24D64-A1B4-43DD-9C13-10E165B8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［取材、制片、染色和成像条件］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92D66F-B14B-4ACB-82FE-2A583880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8575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2E23C-66FC-4891-AA9E-CC52FEA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3AA0E-7EFD-4BF0-98C6-A8D4C9F6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图像判读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CCFFB-748C-410C-9AA1-4871B3E0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686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［盲法、评分标准与定量方法］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92418-4B16-405C-AD5D-55DDB2C2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323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288B0-35C3-4AB2-93D4-B995AC11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76350"/>
            <a:ext cx="9525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D2B62-AC3B-4703-93FE-73FC40D5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52550"/>
            <a:ext cx="4762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6302E2-ADCB-4C51-B617-9EB1A4ED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66850"/>
            <a:ext cx="45339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787E4C-3701-463C-B4CB-A9717588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33613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组织图像占位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9A125A-A885-4D3A-8D15-6FC7259A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47938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替换为真实切片或显微图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EF7A11-5B03-4930-9060-5FDBCD9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52550"/>
            <a:ext cx="24384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2B511-6A58-4024-A40B-1FEBC1AF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66850"/>
            <a:ext cx="22098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88FDC-7F60-4C93-9D73-00D2E20B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3613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染色图像占位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D5596A-92F9-472B-94B6-92E9EE7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47938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注明染色方法与倍率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4E75FE-E1FC-4D06-A8F5-1CA2E0EE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86175"/>
            <a:ext cx="35814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49DA07-3DC7-4937-875F-CEE04653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00475"/>
            <a:ext cx="33528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123506-F9F2-4D91-A5D0-75DE6D71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76738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5030DE-EE91-4741-981A-0F0348C4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91063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替换为实验观察图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0EF319-76F8-4BA5-87CA-A03AFF5E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86175"/>
            <a:ext cx="3619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18366F-5535-4CB2-990F-F8333DEE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00475"/>
            <a:ext cx="33909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7AE612-DB8A-42AC-8380-90224546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76738"/>
            <a:ext cx="316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分析图像占位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7F2AEC-52DE-40DE-9043-A1EC674E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91063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替换为真实定量或判读示例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FCB106-C6F6-497A-A690-D17BA8E5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29275"/>
            <a:ext cx="739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图像均需注明来源、比例尺与判读方法。</a:t>
            </a:r>
          </a:p>
        </p:txBody>
      </p:sp>
    </p:spTree>
    <p:extLst>
      <p:ext uri="{BB962C8B-B14F-4D97-AF65-F5344CB8AC3E}">
        <p14:creationId xmlns:p14="http://schemas.microsoft.com/office/powerpoint/2010/main" val="1191166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B5DECB-EB4F-4A82-9128-65ECB13E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CD2C3-3065-4070-AB92-DC1F60C9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29AC6-7C86-4C19-BD41-64A2E79D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309FB-5A45-4350-9CD1-456B6013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阶段进展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4B3CF-8015-4824-BCF0-64EA92A3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C5A05-0C6F-4398-A285-62FD67A8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378B9-4D85-4072-81F4-646020BE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AFC1C-0556-48B0-A465-EDE5C65E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C90E5-0222-48EF-94A7-D07CC82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07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F46ED-2509-4015-98F0-FCD1343E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7F40F-1C91-4449-B5E8-8D295508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本阶段工作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9A66A-78F6-401D-A9C7-4406F8E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A4A513-28C6-4ADA-BD0B-1966A232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BED41-3196-4B21-B686-7F7A0296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WORKSTREAM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CF495-E3D1-43D7-AA86-00ABCF68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研究任务一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37D4A-B591-482A-A865-6DFFC83A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5E8D3A-0474-43CC-9097-50B2A384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35150-F65E-4810-AC1E-FE9EF82C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934323-EA84-433D-A0DE-BF1E479C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CF237-A736-41E5-B560-C98B8EF3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9725"/>
            <a:ext cx="9525" cy="259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CEC8E-D424-4216-A7A8-245499EF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WORKSTREAM 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EB73D5-46F2-4593-887E-E4EC1575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研究任务二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7E7778-E353-4F8F-9645-D9D83CAA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88EF5-5E17-44F6-9F72-DC715FE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059C3-CF4D-4171-8A00-47FEC50B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E3EB8F-B2FA-47F5-8242-3195874E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B7C04-E8EA-4C28-88BF-C63F0046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09725"/>
            <a:ext cx="9525" cy="259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A4A1ED-2024-407F-B7FD-F09D76C6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WORKSTREAM 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82B57F-0E5A-4DE2-A7BB-B669CAAA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研究任务三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B294A-3DB5-4945-B87F-E0EA176F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E6A8B-37CC-4E06-A95A-CC4B176F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0A1841-94A4-4BFD-A259-E68B4E81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AAE1B3-B67D-4B36-8DEE-E6518D6A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047D62-29E3-4C6A-9EC1-30D26309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需要组会讨论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19A09D-C161-4683-998A-32E8E68F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9D6E0B-4FF9-4E7A-9019-0BB3510C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965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7E35D1-66C3-48FA-9EA1-9E336448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ASK 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D78C58-25AA-47B2-994B-BF06A35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［需要判断的结果或方案］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60C797-45A6-4FBE-A80D-B8A473DE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ASK 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DA185F-E2EE-4781-B36A-FF1FB543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［需要的资源、协作或方法建议］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59AF3E-1721-491E-9D40-561F13D7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ASK 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49062D-E2FB-4478-B026-8B656D78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［近期需要拍板的决策］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E076DC-EE30-4DB3-9D2B-F28F24D9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按实际任务更新进度，并记录当前阻碍与下一步动作。</a:t>
            </a:r>
          </a:p>
        </p:txBody>
      </p:sp>
    </p:spTree>
    <p:extLst>
      <p:ext uri="{BB962C8B-B14F-4D97-AF65-F5344CB8AC3E}">
        <p14:creationId xmlns:p14="http://schemas.microsoft.com/office/powerpoint/2010/main" val="1845664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AB8B8C-1B53-4076-8269-6F512007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793EC-0E80-4867-A21F-FA4CD6D1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EB32E-2CEF-467D-9F27-B56AC3F5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7E58E-340C-4486-AAA8-FE652991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结果与讨论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F5949-A5B7-49EA-B6CF-51208F6D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15ADA-30E9-41B0-BF58-5B4027B7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41A72-C3D5-48C6-BA80-59ACB0D4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197CA-DE20-4AB8-B924-664422F8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DD233-7F4A-4188-B35E-ECC76FB3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08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B0104-698E-4B9E-9854-7136E866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AB56E-CCB1-4A27-AFA9-D041F94D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43025"/>
            <a:ext cx="5067300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0AE1A-D46A-41AB-BB02-5B1F2903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4838700" cy="368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B9023A-C92B-421E-8BF5-3D34D4BD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9913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代表性病理图像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1DBB7-BD6C-4D85-876F-23F7FB93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4238"/>
            <a:ext cx="461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替换为真实组织切片或显微图；标明组别、比例尺与染色方法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34A1C-98DE-4EC9-8CBF-7FF883BF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772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主要发现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86E5EF-314B-405F-91C2-B585AF76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577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［用简短语句概述图像结果］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DFEF2-C930-4646-8A68-AC8C3A60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71725"/>
            <a:ext cx="5772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303F3-BC47-49B1-850D-22328E4A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24125"/>
            <a:ext cx="5772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定量结果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E33A1-1713-4DC4-837C-2A7E410C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5772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［填写指标、组别、样本量及统计方法］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DAC6B-8D7D-4CD5-8D84-EFF9B56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14725"/>
            <a:ext cx="5772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48A32-929A-48E5-94DC-911E08EA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180975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7FA6E-7199-434A-8339-CF324CC8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38575"/>
            <a:ext cx="15811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F96585-8AD8-41A9-97D0-026D3924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00538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图像占位 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7743A-1736-4452-A15B-512DCDEF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14863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图号 / 来源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14494-20AC-4F3F-825E-AC27512B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24275"/>
            <a:ext cx="180975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ED40A-377B-4B8A-880D-70CC51F7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38575"/>
            <a:ext cx="15811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42C9E-537F-41DA-B286-BB904E32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0538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图像占位 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FC08AE-2D23-4830-9093-505F0529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4863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图号 / 来源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389EB-24FF-4B02-B67C-C5916ED6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24275"/>
            <a:ext cx="1885950" cy="153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F4EE77-51B6-4A72-9D79-A16EAEFD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38575"/>
            <a:ext cx="1657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1D1B9A-24CD-488B-801B-8EF4F62F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0538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图表占位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BEA1DE-906E-49C2-BBB6-ABB7F77F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614863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定量结果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19303-FE6A-4D74-AFE6-293BC99F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7FE250-A785-42AF-A615-2E865A76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结果结论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413007-BEBC-4BDF-BE78-2E28E973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38800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［用一句话概括本页发现，避免超出数据支持范围］</a:t>
            </a:r>
          </a:p>
        </p:txBody>
      </p:sp>
    </p:spTree>
    <p:extLst>
      <p:ext uri="{BB962C8B-B14F-4D97-AF65-F5344CB8AC3E}">
        <p14:creationId xmlns:p14="http://schemas.microsoft.com/office/powerpoint/2010/main" val="4194502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C0708F-3066-428B-B6D8-B6EE23A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6AC6B-B334-463A-9EC3-EFAB8C0B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EFDF4-0B33-45D0-AEAE-25510D10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07D7D-9D6E-4AC6-8DC3-5BDB5D89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研究结果｜定量分析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B3383-549A-4B5B-9A1C-45997167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6FC98-B538-4F38-94CF-0DB6B4A5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D8337-ECF5-44A4-B4B1-5BDEAD35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3D1B4-9AFD-42D5-B2D1-C6D4F57E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30208-E7B1-4CFF-8D4C-D5A00967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09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213B1-BDD3-459C-BD9B-F43D69E5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CD349-20BF-4231-8109-F4080167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0FE4D-208E-4FC2-9827-F37D9C3C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结果标题：［写出比较关系或主要变化］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4B26B-8BE8-4599-8A52-5C519C18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主要结果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12D74-B6D7-454F-84D7-3F68DE0A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96A17-7881-463A-9CD3-DF40BFCC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638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DF24BD-1968-44D0-809A-A5574FBC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70675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12F8D-EE30-41D1-B87E-5958B4DA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68389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49D2E-7052-4C20-8205-9881852B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661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图表占位区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E4856C-FB85-4FE2-B7DC-83BE08D4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661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插入可编辑图表或原始统计图；图注包含单位、n 值和检验方法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153295-6474-4E72-9B6D-B634424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结果数据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54282C-9AE3-4846-A1C0-F5BB25F6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526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5BCFB-4033-4888-B02D-532EC799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C00292-738F-44F5-9D90-5F1F8001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FA020-F182-401B-96B1-5E372734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526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F4706-BC9D-424A-AA0C-380F80F2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526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组别 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9AD95-D175-4BD5-847B-EC81B760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526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组别 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49E56-A3D2-44C7-A10D-3134DDA6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4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7DFEB-2DBD-4940-A7F5-C15AA760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051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［指标 1］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02DDB-672D-40B2-8BEA-9429BEAF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051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［均值±SD］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FA8260-37D2-4E9F-AD0A-49079D43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051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［均值±SD］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0ED6C-3F1B-4349-A04D-2F43060A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58E3DF-B35D-49AF-BD73-A011D40D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575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［指标 2］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E5AB4E-8C00-4680-87CE-5B56F823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575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［中位数］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E59912-F36B-4208-BC3E-5C8215C9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575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［中位数］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1B6032-87C0-48D4-9E4C-E264B842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4"/>
          </a:solidFill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99B8D8-997A-4CC1-A452-C96EFEF6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100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P 值 / CI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CE67D8-2217-4EF8-A29A-66013C2F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100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［填写］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2339EE-3172-4831-9F61-574EBDE4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［填写］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FFA282-FD7F-4705-84AF-6E0C5158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434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解读提示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C3DFD5-5410-4CE1-8642-21ABE844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• 比较对象：［…］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• 效应大小：［…］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• 结论边界：［…］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3C4469-2A68-4D47-A2AA-7102F36B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数据来源 / 统计说明：［注明数据集、时间范围或分析版本］</a:t>
            </a:r>
          </a:p>
        </p:txBody>
      </p:sp>
    </p:spTree>
    <p:extLst>
      <p:ext uri="{BB962C8B-B14F-4D97-AF65-F5344CB8AC3E}">
        <p14:creationId xmlns:p14="http://schemas.microsoft.com/office/powerpoint/2010/main" val="1716108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226C17-E8DA-43B4-9C15-DB81DC7A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96E7A-B221-4D04-AE05-37C6B496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B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3AB432-D408-4B3A-8188-A71FCA3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"/>
            <a:ext cx="457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  /  GONG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890AF-CE3C-4F12-BB81-0E128CF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结论与讨论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D5283-F199-4F01-9294-AC5CD51A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6775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31B32-259C-439D-B29F-177A7B36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C34B2-61EB-4202-A1AE-E20C858B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60713-0C94-4D71-82E5-E9B8B8A7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9746A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BD958-0AAC-4AB4-8C4E-2C5F137E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53150"/>
            <a:ext cx="1181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10  /  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90DAF-B65C-4059-AC61-8D70C6C3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4CD44-150E-4603-B296-481A50F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核心结论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EF70C6-C9AE-41AC-B58E-B7DF59C9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3975B-EE36-4992-9886-F391C703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617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8C9D6-49B3-45C8-87A5-9ECB2A21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3C193-20F3-4600-B8AD-FF12F4BC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E1DF1-A072-4609-A0E8-2147ECD1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主要发现一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22775-48BB-48E7-933D-92A86A52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80C6B-DB63-43FA-8667-78A1B43E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40C12-70EB-4137-8D80-97FE987B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0AE85C-DB59-40A0-854E-AB2623E3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8BDE00-FE5C-43CD-967B-F93A5ACF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主要发现二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8CBDE-48D4-4DBC-9637-1E3F8E41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289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B28A0B-56EC-42D7-9C11-4B82F0C7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43275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A2EF3-E9DD-4621-B18A-7CAC9CFD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742CA3-48CE-414B-A128-3CC61D40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91CA7-3037-4ABD-9104-BD05586B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主要发现三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B4C006-C147-4324-8A4C-F92A5682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9FB9D-C1D4-4107-A78F-CC82C008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39FECE-FAFA-4184-ABFD-8B5DCC66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23950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讨论要点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448E01-EDA5-499C-A86A-033F9E84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097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A192A-E750-448F-AD45-F724114D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2875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F983DD-7BC9-42A3-8664-645140F7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78B4CA-F173-44DC-82E3-104C05F3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意义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F5B353-F1AF-4F24-A7E1-E89632CE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［与既有研究的关系或贡献］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C136A8-1291-4218-AFD2-00C81C9E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7A15FB-8E39-4C0C-A553-7CC460CE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241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C4E381-DF33-41E6-B308-CC8A3EC9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局限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CB1AFA-1447-4A17-88E6-E1B55553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［样本、方法或外推边界］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88DF2B-6514-4D62-8C6E-A644B36F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65416C-9312-4F6B-AD16-A859D95D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ABAEDC-8018-48D3-8A21-A6651693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6A1648-43B1-4200-9BDD-D542679D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［后续验证或补充分析］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2CCFEA-B0FC-4C8F-ACF5-EE7E09D4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9718B5-3BB8-4DAF-BC6E-9E3591DE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83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5F61BD-784D-4D50-8291-9831B982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4B3B"/>
                </a:solidFill>
                <a:latin typeface="PingFang SC"/>
                <a:ea typeface="PingFang SC"/>
                <a:cs typeface="PingFang SC"/>
              </a:rPr>
              <a:t>组会希望获得的反馈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6C2307-492C-4EFC-A84E-F87FBFC1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03B33"/>
                </a:solidFill>
                <a:latin typeface="PingFang SC"/>
                <a:ea typeface="PingFang SC"/>
                <a:cs typeface="PingFang SC"/>
              </a:rPr>
              <a:t>［把最需要讨论的问题写清楚：解释、实验设计、统计方案或资源安排］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8B578F-4105-4758-8853-21278B13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98367"/>
                </a:solidFill>
                <a:latin typeface="PingFang SC"/>
                <a:ea typeface="PingFang SC"/>
                <a:cs typeface="PingFang SC"/>
              </a:rPr>
              <a:t>谢谢｜欢迎讨论</a:t>
            </a:r>
          </a:p>
        </p:txBody>
      </p:sp>
    </p:spTree>
    <p:extLst>
      <p:ext uri="{BB962C8B-B14F-4D97-AF65-F5344CB8AC3E}">
        <p14:creationId xmlns:p14="http://schemas.microsoft.com/office/powerpoint/2010/main" val="17037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2026-09-29T04:27:52.1860000Z</dcterms:created>
  <dcterms:modified xsi:type="dcterms:W3CDTF">2026-09-29T04:27:52.1860000Z</dcterms:modified>
</coreProperties>
</file>