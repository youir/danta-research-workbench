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08625aad394940" /><Relationship Type="http://schemas.openxmlformats.org/officeDocument/2006/relationships/extended-properties" Target="/docProps/app.xml" Id="R21132bf0245c4817" /><Relationship Type="http://schemas.openxmlformats.org/officeDocument/2006/relationships/officeDocument" Target="/ppt/presentation.xml" Id="R0c52bf132f9645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9f066b4f8d4d7d"/>
  </p:sldMasterIdLst>
  <p:notesMasterIdLst>
    <p:notesMasterId xmlns:r="http://schemas.openxmlformats.org/officeDocument/2006/relationships" r:id="R26d9b77440784a63"/>
  </p:notesMasterIdLst>
  <p:sldIdLst>
    <p:sldId xmlns:r="http://schemas.openxmlformats.org/officeDocument/2006/relationships" id="256" r:id="Rcb852d0dabca48c6"/>
    <p:sldId xmlns:r="http://schemas.openxmlformats.org/officeDocument/2006/relationships" id="257" r:id="R160b0ad432564bac"/>
    <p:sldId xmlns:r="http://schemas.openxmlformats.org/officeDocument/2006/relationships" id="258" r:id="R783074eca8bd460e"/>
    <p:sldId xmlns:r="http://schemas.openxmlformats.org/officeDocument/2006/relationships" id="259" r:id="R1e2b7d3b2f6d4531"/>
    <p:sldId xmlns:r="http://schemas.openxmlformats.org/officeDocument/2006/relationships" id="260" r:id="R3d2993cb87e34125"/>
    <p:sldId xmlns:r="http://schemas.openxmlformats.org/officeDocument/2006/relationships" id="261" r:id="Rc9e0ebcdd6684f4a"/>
    <p:sldId xmlns:r="http://schemas.openxmlformats.org/officeDocument/2006/relationships" id="262" r:id="Rbcdd1b89469b4346"/>
    <p:sldId xmlns:r="http://schemas.openxmlformats.org/officeDocument/2006/relationships" id="263" r:id="Ra0e327c7060a4fb3"/>
    <p:sldId xmlns:r="http://schemas.openxmlformats.org/officeDocument/2006/relationships" id="264" r:id="R1b68567889da4322"/>
    <p:sldId xmlns:r="http://schemas.openxmlformats.org/officeDocument/2006/relationships" id="265" r:id="R1b000e5c72554d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b2f793e5464291" /><Relationship Type="http://schemas.openxmlformats.org/officeDocument/2006/relationships/slideMaster" Target="/ppt/slideMasters/slideMaster1.xml" Id="R359f066b4f8d4d7d" /><Relationship Type="http://schemas.openxmlformats.org/officeDocument/2006/relationships/notesMaster" Target="/ppt/notesMasters/notesMaster1.xml" Id="R26d9b77440784a63" /><Relationship Type="http://schemas.openxmlformats.org/officeDocument/2006/relationships/presProps" Target="/ppt/presProps.xml" Id="R5c631e3c1ce14bab" /><Relationship Type="http://schemas.openxmlformats.org/officeDocument/2006/relationships/tableStyles" Target="/ppt/tableStyles.xml" Id="Rcd763961c9794d21" /><Relationship Type="http://schemas.openxmlformats.org/officeDocument/2006/relationships/slide" Target="/ppt/slides/slide1.xml" Id="Rcb852d0dabca48c6" /><Relationship Type="http://schemas.openxmlformats.org/officeDocument/2006/relationships/slide" Target="/ppt/slides/slide2.xml" Id="R160b0ad432564bac" /><Relationship Type="http://schemas.openxmlformats.org/officeDocument/2006/relationships/slide" Target="/ppt/slides/slide3.xml" Id="R783074eca8bd460e" /><Relationship Type="http://schemas.openxmlformats.org/officeDocument/2006/relationships/slide" Target="/ppt/slides/slide4.xml" Id="R1e2b7d3b2f6d4531" /><Relationship Type="http://schemas.openxmlformats.org/officeDocument/2006/relationships/slide" Target="/ppt/slides/slide5.xml" Id="R3d2993cb87e34125" /><Relationship Type="http://schemas.openxmlformats.org/officeDocument/2006/relationships/slide" Target="/ppt/slides/slide6.xml" Id="Rc9e0ebcdd6684f4a" /><Relationship Type="http://schemas.openxmlformats.org/officeDocument/2006/relationships/slide" Target="/ppt/slides/slide7.xml" Id="Rbcdd1b89469b4346" /><Relationship Type="http://schemas.openxmlformats.org/officeDocument/2006/relationships/slide" Target="/ppt/slides/slide8.xml" Id="Ra0e327c7060a4fb3" /><Relationship Type="http://schemas.openxmlformats.org/officeDocument/2006/relationships/slide" Target="/ppt/slides/slide9.xml" Id="R1b68567889da4322" /><Relationship Type="http://schemas.openxmlformats.org/officeDocument/2006/relationships/slide" Target="/ppt/slides/slide10.xml" Id="R1b000e5c72554d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ed63f1d9d04a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c4ba447b214fa3" /><Relationship Type="http://schemas.openxmlformats.org/officeDocument/2006/relationships/notesMaster" Target="/ppt/notesMasters/notesMaster1.xml" Id="R08e3239818e340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9a2f28ae4a41be" /><Relationship Type="http://schemas.openxmlformats.org/officeDocument/2006/relationships/notesMaster" Target="/ppt/notesMasters/notesMaster1.xml" Id="R85c6dfb6893749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ff9e8046814d0d" /><Relationship Type="http://schemas.openxmlformats.org/officeDocument/2006/relationships/notesMaster" Target="/ppt/notesMasters/notesMaster1.xml" Id="Rc211b87a5c6f4a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58fcbcdbc14c26" /><Relationship Type="http://schemas.openxmlformats.org/officeDocument/2006/relationships/notesMaster" Target="/ppt/notesMasters/notesMaster1.xml" Id="R4e0fec973d5743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dd3566f451460b" /><Relationship Type="http://schemas.openxmlformats.org/officeDocument/2006/relationships/notesMaster" Target="/ppt/notesMasters/notesMaster1.xml" Id="R9c561edce0d04d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89e0ddc7044f7e" /><Relationship Type="http://schemas.openxmlformats.org/officeDocument/2006/relationships/notesMaster" Target="/ppt/notesMasters/notesMaster1.xml" Id="R41c716fba29d45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48dfc378a94e6f" /><Relationship Type="http://schemas.openxmlformats.org/officeDocument/2006/relationships/notesMaster" Target="/ppt/notesMasters/notesMaster1.xml" Id="R29a0e536dad041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29c7edd8bc444f" /><Relationship Type="http://schemas.openxmlformats.org/officeDocument/2006/relationships/notesMaster" Target="/ppt/notesMasters/notesMaster1.xml" Id="R8728f006bffb4a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48b5285d2e4c1c" /><Relationship Type="http://schemas.openxmlformats.org/officeDocument/2006/relationships/notesMaster" Target="/ppt/notesMasters/notesMaster1.xml" Id="Rd6b0d314618546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9dd346246749cb" /><Relationship Type="http://schemas.openxmlformats.org/officeDocument/2006/relationships/notesMaster" Target="/ppt/notesMasters/notesMaster1.xml" Id="R9c266cf9b0604c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3b701ef7544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4d48a3dde34de6" /><Relationship Type="http://schemas.openxmlformats.org/officeDocument/2006/relationships/slideLayout" Target="/ppt/slideLayouts/slideLayout1.xml" Id="R2722311085cb45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22311085cb45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7dac3e75e4c73" /><Relationship Type="http://schemas.openxmlformats.org/officeDocument/2006/relationships/image" Target="/ppt/media/image.png" Id="R935c25bc7dbe4806" /><Relationship Type="http://schemas.openxmlformats.org/officeDocument/2006/relationships/notesSlide" Target="/ppt/notesSlides/notesSlide1.xml" Id="Rc3d084d2807d4a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d4610d06b4ee6" /><Relationship Type="http://schemas.openxmlformats.org/officeDocument/2006/relationships/notesSlide" Target="/ppt/notesSlides/notesSlide2.xml" Id="Rfd919747f38543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f73693edf4193" /><Relationship Type="http://schemas.openxmlformats.org/officeDocument/2006/relationships/notesSlide" Target="/ppt/notesSlides/notesSlide3.xml" Id="Rbe29bb5f2e844a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051efa8284a97" /><Relationship Type="http://schemas.openxmlformats.org/officeDocument/2006/relationships/notesSlide" Target="/ppt/notesSlides/notesSlide4.xml" Id="Rb743edb12e9847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eb803d3634628" /><Relationship Type="http://schemas.openxmlformats.org/officeDocument/2006/relationships/notesSlide" Target="/ppt/notesSlides/notesSlide5.xml" Id="R47d13ea9baf545f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7f11a99a04ab9" /><Relationship Type="http://schemas.openxmlformats.org/officeDocument/2006/relationships/notesSlide" Target="/ppt/notesSlides/notesSlide6.xml" Id="Rc0d2d0ac13ae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51c96646464dc4" /><Relationship Type="http://schemas.openxmlformats.org/officeDocument/2006/relationships/notesSlide" Target="/ppt/notesSlides/notesSlide7.xml" Id="R5f28ed22bd7048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431d72563468d" /><Relationship Type="http://schemas.openxmlformats.org/officeDocument/2006/relationships/notesSlide" Target="/ppt/notesSlides/notesSlide8.xml" Id="R5e83e9f2ae344cb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8c0e212c64e4b" /><Relationship Type="http://schemas.openxmlformats.org/officeDocument/2006/relationships/notesSlide" Target="/ppt/notesSlides/notesSlide9.xml" Id="R3788df3dc3dc4d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8741d1e474799" /><Relationship Type="http://schemas.openxmlformats.org/officeDocument/2006/relationships/notesSlide" Target="/ppt/notesSlides/notesSlide10.xml" Id="R4e20c687a3b443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32DC3-F426-4A55-85A8-EC34FEC6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13AC6-7CAE-456A-A889-4DC4BDEF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5E5C6-6F09-48EF-A455-9BB27AE6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4998A-C68A-49E9-B3E5-423B2133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6E3B0-6954-4C27-8516-00FE6219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c25bc7dbe4806"/>
          <a:srcRect xmlns:a="http://schemas.openxmlformats.org/drawingml/2006/main" l="1993" t="0" r="19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219200"/>
            <a:ext cx="5048250" cy="39433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5FC00-28BE-4D7B-AEC6-BDADED71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4762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研究生组会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7AA50-E998-45F1-A413-B93DFB01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4953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文献汇报与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34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阶段进展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1D128-3C47-485B-8A01-EB1E15AC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C33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6D55FE-FC4D-43C6-9582-B6A5DAB6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课题名称：在此填写研究方向或汇报主题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A58EE6-3601-4837-8778-9D932806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619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龚博士  /  202X年X月X日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79F9B-A273-4455-BE5E-602980B3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81650"/>
            <a:ext cx="111633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C886E-F779-4BF3-AE14-A731CF3B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43575"/>
            <a:ext cx="1762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E4BAA-62CD-425C-90A4-954E7B71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74357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文献汇报     阶段进展     结果讨论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872A3-8DF0-42BC-8B9C-F6516D0F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7830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65165-0AA9-48BC-9C16-481CBD71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84FAF-231E-4F15-B179-11C7546E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004A7-A33C-403C-BA5B-52ABACA6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7804C-40F7-4A42-B5E0-25A106A5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78CE7-D0A3-4C81-9904-7ADACBFA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61986-AC42-4E34-A739-B1DD037B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A21F9-5E23-46A1-92F1-8B27A1C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084332-0A9E-46A7-ACDC-20790AFA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D6706-AAD6-47D4-B43D-AFC24F7C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87F6D-C058-4099-8BC8-9B81ECEA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02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97F1C-782D-4C72-AFF1-D2F0A09C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IN THIS SESSION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CCE608-5700-4411-B0DF-891EACE5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4099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8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ADA41-A575-4802-B3C1-46B63BCD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汇报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9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831D5-AEF9-4B01-9F82-AB1F5A18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/  202X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9B8D7-AEFE-4923-AD1D-C7E1BA05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62125"/>
            <a:ext cx="638175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65000"/>
              </a:lnSpc>
              <a:buNone/>
              <a:def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文献与研究问题</a:t>
            </a:r>
          </a:p>
          <a:p xmlns:a="http://schemas.openxmlformats.org/drawingml/2006/main">
            <a:pPr algn="l">
              <a:lnSpc>
                <a:spcPct val="165000"/>
              </a:lnSpc>
              <a:buNone/>
              <a:def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研究背景与科学假设</a:t>
            </a:r>
          </a:p>
          <a:p xmlns:a="http://schemas.openxmlformats.org/drawingml/2006/main">
            <a:pPr algn="l">
              <a:lnSpc>
                <a:spcPct val="165000"/>
              </a:lnSpc>
              <a:buNone/>
              <a:def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研究设计与技术路线</a:t>
            </a:r>
          </a:p>
          <a:p xmlns:a="http://schemas.openxmlformats.org/drawingml/2006/main">
            <a:pPr algn="l">
              <a:lnSpc>
                <a:spcPct val="165000"/>
              </a:lnSpc>
              <a:buNone/>
              <a:def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阶段进展与结果</a:t>
            </a:r>
          </a:p>
          <a:p xmlns:a="http://schemas.openxmlformats.org/drawingml/2006/main">
            <a:pPr algn="l">
              <a:lnSpc>
                <a:spcPct val="165000"/>
              </a:lnSpc>
              <a:buNone/>
              <a:def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结论、讨论与计划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11BAF3-4B04-4830-BFF9-F1274B1E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1752600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C45136-359E-4D0F-84DA-9B3C86BE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38400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36FAC-B982-462B-9E7E-D8551150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124200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5B7E43-A079-45C8-9325-4C01B1C2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810000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A84462-A737-4165-83FB-5B3A2468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4495800"/>
            <a:ext cx="495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13334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A3A178-539E-41D7-9FD3-529DF2F4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C86B76-D859-479B-9148-3057E945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1E557-F4E9-4485-B50B-4165B0C5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文献与研究问题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D5732-07EE-454B-A679-21B458C7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D9886-BBAF-400C-84DC-25F6419E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EC079-69A9-4220-B64C-F7985CD1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E102C-A1DB-4850-AE9E-F731ADD1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11773-5C30-4E9F-B87D-F625948C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CC451-BD45-4054-8832-223BD6E2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62F6A6-9644-4A8B-96ED-FB7A42BF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03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9CBAF-C6D6-44D9-86DD-30C87827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文献概览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602FA-44A1-4918-8D91-D2E837712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81175"/>
            <a:ext cx="4552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0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［用简短文字说明论文的研究对象、研究问题和研究意义］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4566F-2FAB-4EE8-B110-CCB6EB59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05125"/>
            <a:ext cx="455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期刊 / 作者 / 年份：［填写文献信息］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9B064-D033-4F8F-AD8B-B6ED372A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19200"/>
            <a:ext cx="6296025" cy="2447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E3F627-1C92-4C7D-8468-8C0FAF54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19200"/>
            <a:ext cx="6296025" cy="2447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40D0E5-AFE1-4A5E-9AD3-F7318CBB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19200"/>
            <a:ext cx="38100" cy="2447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E9371-F9C8-48B4-B82F-AD93FC85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362075"/>
            <a:ext cx="5953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5CDF7-B2C3-42BD-BBD9-5D71259D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90763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论文图像占位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B64E7-4AC6-4CBE-9F5A-03858DD4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595563"/>
            <a:ext cx="587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替换为论文首页或关键病理图，并注明图号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16F2A2-712B-4F8B-A143-DA3A2BE0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005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研究问题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B8C533-95A4-42F7-AD38-A46A4CCF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00575"/>
            <a:ext cx="3448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［文献核心问题］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FE2BA3-1563-48C3-99FC-D5AE29CD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162425"/>
            <a:ext cx="9525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2DC914-2FDF-4FB7-9C83-A1C8140A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2005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研究设计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5DB14-A895-4424-A26A-FF3B46E2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600575"/>
            <a:ext cx="3448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［样本、方法与分析］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C28139-BFA6-4265-82F9-4D9CF538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62425"/>
            <a:ext cx="9525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0F1BA6-0E02-4E85-9560-6C6B31D9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0525"/>
            <a:ext cx="342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主要发现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DB4FB-4FCE-49D7-94BC-24E9572A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00575"/>
            <a:ext cx="3448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［只摘录文献实际报告的发现］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B6B50E-70FB-4EFA-825A-02CA2F4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B9B035-1DB8-4AD4-B00A-276E6CA2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10250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与本课题的关系：［说明参考价值或需要讨论之处］</a:t>
            </a:r>
          </a:p>
        </p:txBody>
      </p:sp>
    </p:spTree>
    <p:extLst>
      <p:ext uri="{BB962C8B-B14F-4D97-AF65-F5344CB8AC3E}">
        <p14:creationId xmlns:p14="http://schemas.microsoft.com/office/powerpoint/2010/main" val="9740528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C0F5F2-D8E1-4FF1-996E-20440E8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D5A2A-CD8A-43D3-A895-B6BD4C1B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0AD89-1836-4E4B-8A98-3428D30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研究背景与科学问题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0B7809-5AFD-4CA8-852B-D9F3879D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0F4FF-E1D7-4CA7-9C8E-512E53AE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9E43F7-1A9B-45F8-8148-1BBD8832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C8113-7638-4727-AC17-01C02159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1869C4-D389-4441-8C45-5CE49CD8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6CF4E7-58D0-4D4B-AA49-D806A394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D7961-FCB4-4AB2-98F0-789CAC6C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04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A2459-C673-4B45-B42A-2AF29C90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38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背景摘要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7F31EC-26D5-4CB8-ADA5-B262C239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2857500" cy="2752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48000"/>
              </a:lnSpc>
              <a:buNone/>
              <a:defRPr sz="14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［说明研究领域现状、病理学问题及研究意义。每条陈述均补充可靠来源。］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C77A9-E778-4A19-9678-7ED713FB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257300"/>
            <a:ext cx="9525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43EA9E-895A-47D9-9AE3-1CC6825C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323975"/>
            <a:ext cx="3600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045F3-47E0-4E0A-A747-037525B4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323975"/>
            <a:ext cx="3600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B0AFB-769B-421E-8870-E61B060D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323975"/>
            <a:ext cx="38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CC8DD-AD42-45AC-B8B9-038EAFA2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6685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CBCD75-EF7D-4FDC-AAC3-039AFCB9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0002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DDCA8-E12E-402F-819B-D6EE4FDB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050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文献图像 A｜替换为真实来源图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765CB0-60AD-4057-9765-F3C19A2F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323975"/>
            <a:ext cx="3600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714B2B-2F24-40B0-A7BA-6282E8FE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323975"/>
            <a:ext cx="3600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EC3D54-A86F-4CF4-9CFF-76673591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323975"/>
            <a:ext cx="38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862525-F24C-4A96-A03E-8B34F14E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6685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288F4F-A293-4477-8D7B-9CC8F0F3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D952D3-847C-4B8A-8FFF-4C15C014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3050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文献图像 B｜替换为真实来源图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53519-EF96-452E-9D30-A33682C2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67075"/>
            <a:ext cx="3600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48473-3807-4099-9C39-DE6F7B34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67075"/>
            <a:ext cx="3600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EB164A-2EAD-4418-815B-E5610E58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267075"/>
            <a:ext cx="38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148B73-7546-4630-B502-6D4A8A4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0995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C63F0D-9002-4A8C-87DA-5BD135B2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433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0C2E89-0121-42F9-9BF3-E5285E6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481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文献图像 C｜替换为真实来源图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865C31-C4DB-4830-B829-0D5D83F4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67075"/>
            <a:ext cx="36004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C949E0-A2E1-4F1E-A347-5E22AEC0E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67075"/>
            <a:ext cx="36004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EA2B98-CE39-4A0A-AE47-39A093B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267075"/>
            <a:ext cx="381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AF4D40-2E0C-44DB-BBC4-C78C758F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409950"/>
            <a:ext cx="3257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85D478-E695-414C-A254-ED3FFFB8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43350"/>
            <a:ext cx="325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1530B0-9554-47F7-B71D-ED1BC143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2481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文献图像 D｜替换为真实来源图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551878-25AC-454A-B016-76EBB25B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1E4308-0585-47BE-BEA2-E0515429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054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待解决问题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B3B2DB-E865-488A-B3E5-6C5D63D9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5505450"/>
            <a:ext cx="9515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［用一句话提出可检验、范围明确的科学问题］</a:t>
            </a:r>
          </a:p>
        </p:txBody>
      </p:sp>
    </p:spTree>
    <p:extLst>
      <p:ext uri="{BB962C8B-B14F-4D97-AF65-F5344CB8AC3E}">
        <p14:creationId xmlns:p14="http://schemas.microsoft.com/office/powerpoint/2010/main" val="227926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70DB68-5AEA-48D2-9826-E5EE4F6A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2C253-A231-4756-B131-AEDF161C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6391B-ACB5-4BE9-A38C-923187C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研究目标与科学假设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83F3E-2600-43FB-A7D7-C5E646C6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CF071-AC86-4F7E-AFAD-DA7994DC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84CA7-C8C0-4597-B727-ACF283A6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212979-6EF4-494C-AD10-0A815BC1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CEEAA-E08B-4389-A92B-5DBCD39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09C2BF-1F24-487E-AEAE-2B9C1FC6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0F7FE-FB5B-42ED-829E-72D8036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05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61DBD9-7614-4003-9DE4-A52C156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4CA53-F0FF-4138-AE9D-94A50FD4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666F2-4203-4022-B53E-3550FBAB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474A2-5AEE-4BD4-BCD9-95DEF7E6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AIM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7D1AC-AE6C-4C91-A8B8-6E09724D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目标一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0726F-478C-405A-AD03-648BD19B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8AF09-2CA7-4E1E-99F5-FFE62900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2F6111-76B9-4212-96A7-99265D65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76400"/>
            <a:ext cx="9525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10D267-97BB-4AB7-8425-6C76E486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AIM 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772EE-1825-4208-AE35-8C584A4F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目标二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F85304-6C14-4C76-B806-1C5FD6EE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697B8A-EDF7-4A7A-BD18-CB0CD2DC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80C61-E580-490A-8FBB-19C9ECB2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676400"/>
            <a:ext cx="9525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522D4F-3C48-4647-A38F-C2CD3C40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AIM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ED11CB-5213-4F36-88E2-29B528A0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目标三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9FEC49-D10B-4FDF-941F-A911EB5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09825"/>
            <a:ext cx="3257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［描述目标或研究内容］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717B33-E5C0-417D-83FA-262ACD4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25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EA484-F8CC-420A-8C5C-2396D357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9FAE3-9F40-427C-B6B6-7189DBF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19475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科学假设与预期关系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074BCB-D40B-44FA-8BF8-40F37D17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05225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696568-A52B-4F22-B19F-5421EFC4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1C6B45-EE7A-4BE2-9A5E-3E381B5E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研究对象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1134D8-F597-41F5-9644-BC2299A0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［人群 / 模型］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24C2B5-AA99-4B2E-A6B2-2CEBE53F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2F930F-675D-4ECD-BE82-0AC6E66C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95E0E6-4C1B-4435-93BB-953CEC86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DA739A-2FBE-4E13-A9B6-CA490357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关键因素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C549F6-EB45-4228-8802-9544173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［暴露 / 处理］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C1F7DA-294C-4B69-B542-9F4B92C9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D6D611-3A98-426B-97AC-F87ADB5D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ADE55B-7613-485F-AE00-4BBB1DD9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998EE1-EB77-4735-A135-2652E223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作用机制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A00873-75B7-4181-B9F9-C8A632CC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［中间环节］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5C01A29-C05E-4EC2-BD18-48116DEE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4476750"/>
            <a:ext cx="1428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FA56D5-1339-447D-874A-83D9AFE5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171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4DE6478-089C-40CC-9850-AB60A14E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57650"/>
            <a:ext cx="4381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65DD59-3195-4BB3-BECC-CAF333A2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314825"/>
            <a:ext cx="2333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研究结局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BA6BE4-5058-47C1-8F38-DFDC7426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76775"/>
            <a:ext cx="2333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［主要结局］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C4C0D9-3406-41BF-ACF2-4DF8E3BE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假设：［用一句话写出预期方向及其理论依据］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236D6D-7039-4B20-8B2F-B2525F71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请把“预期”与“已经观察到的结果”分开表述。</a:t>
            </a:r>
          </a:p>
        </p:txBody>
      </p:sp>
    </p:spTree>
    <p:extLst>
      <p:ext uri="{BB962C8B-B14F-4D97-AF65-F5344CB8AC3E}">
        <p14:creationId xmlns:p14="http://schemas.microsoft.com/office/powerpoint/2010/main" val="762297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156BB71-E38E-4627-9B7E-CE987232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6BB66-1A7C-4262-AEEC-96FBF7BB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478CF1-3A1B-4024-A378-5CEE95D6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FE2273-A44D-4A31-B1C9-3DCC0EB2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387E1-D0B2-4609-B075-842867EE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1DE19E-FC10-4FBA-8FB9-4707E41F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20BEF-F964-44D9-B898-3AB4060D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6DC35-51A3-472F-AAAD-ACA29408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8E83B-C382-4882-8FB7-63E2EC4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1971B-87B5-4B42-A813-0FCDD97C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06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904A1-B16C-4BD0-9ACD-8BC71F13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334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［概述研究设计与观察对象］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4E9F1-65D6-4D29-9194-8C90B987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0ADD7-4656-4673-8971-4E2BAA50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样本与分组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19B5A-F03B-4D04-9969-46A80D41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［来源、纳入标准、分组依据］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6E95C4-8BDD-4B39-AFDC-30FFE88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495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43259F-5F8B-4F2F-8E2B-FDC053C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2495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981DC0-8A24-48F9-862C-961C90A1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9F45B-C4CE-4902-B243-168CE314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83C78C-834D-4790-9CCD-A71F8307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338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4A75E0-B100-4F2A-9AF4-EB7F1662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替换为本步骤代表性图像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FDFE5-3F07-4286-928D-3F7BD6D0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49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［方法细节 / 参数］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89BB9-3204-45AB-890C-BF6B97CC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752600"/>
            <a:ext cx="9525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7B3ACF-1ED4-45FF-8CBC-8022C72C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65EFF0-D7BA-46B0-987E-C3EF54AE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95500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组织处理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029700-2B0F-4C96-9469-C195182D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7650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［取材、固定、切片与质控］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21EE7E-9096-450E-BF59-63F28D8F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2495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075BC0-E175-4F5F-9C9C-C8EC818E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2495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AEBE2-9D85-4F69-B0EE-663A9CA0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909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7B5AE-5682-4CB1-9556-564A132E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337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D3AFC8-78A4-44F3-B4BC-9C21CE34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338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F5316-EDE7-415A-9375-659C4484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386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替换为本步骤代表性图像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C6E793-43DE-4938-AD2E-AA24103C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57800"/>
            <a:ext cx="249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［方法细节 / 参数］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194372-90AE-48BD-AAF6-D7BAC456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52600"/>
            <a:ext cx="9525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2F308A-F674-424E-A4A4-A107A4EC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D746F-BD6B-488B-A10B-FE120F56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病理检测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EC90B-10C8-4635-BE1E-975E467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［染色、成像与判读方法］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BAF2A3-C2ED-4FB0-A333-ED0BB6DF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2495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A7324A-FE42-47C5-9F88-D7FD4F07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2495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D94351-CE33-42AF-9F38-9D66F1D8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909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616E06-8793-49B2-9DD4-AA9DE21B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37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74A347-145E-4763-B064-4D7AB98D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338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512BA9-34D2-4EDC-92FB-7E0003A3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替换为本步骤代表性图像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D159D9-BC64-4D55-90E0-67AF85F6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57800"/>
            <a:ext cx="249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［方法细节 / 参数］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71FC59B-9636-48F5-9259-2DB8CEB6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52600"/>
            <a:ext cx="9525" cy="382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6A3458-4DB5-41AB-8C9F-97B64CFF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0EACAA-0414-47ED-A71C-E205E390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2495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图像分析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598691-98A1-4550-BF00-8CD64221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76500"/>
            <a:ext cx="2495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［指标、盲法与统计方法］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AFE812-4ECD-4A25-82BF-919B4765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90900"/>
            <a:ext cx="24955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F24EE17-6D38-44ED-8D59-F4CA6CB6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90900"/>
            <a:ext cx="24955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F85365-EE6C-4AAC-8E92-D0F552C9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90900"/>
            <a:ext cx="381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B50CB70-83FD-41F4-A5BE-3F4D4E72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33775"/>
            <a:ext cx="2152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0D0563-080A-4D6B-89C8-057A33E5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133850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7D4186-FD41-4395-BDC1-E59AD1FB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替换为本步骤代表性图像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A18F57-2986-4ACC-94AA-7BA78C2B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4955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［方法细节 / 参数］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A1C9CA-B571-4487-B193-F00E62B2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43575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959AD2-21FD-4C66-BAE8-7F677DAF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15025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技术路线摘要：［用一句话概括各步骤之间的关系］</a:t>
            </a:r>
          </a:p>
        </p:txBody>
      </p:sp>
    </p:spTree>
    <p:extLst>
      <p:ext uri="{BB962C8B-B14F-4D97-AF65-F5344CB8AC3E}">
        <p14:creationId xmlns:p14="http://schemas.microsoft.com/office/powerpoint/2010/main" val="18222890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F429E5-55D0-4DAC-9A99-6FDE7EE5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C31E7-39B8-4C20-A118-5C6646B8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504CA-7DDA-4312-89E5-97460616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阶段进展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AF386-B2F4-43EC-8B7B-FB2E4884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788CF-1FAE-4CBE-9434-C9F0446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412D4-853C-491E-9005-893E4D94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80909-2A93-4794-81F9-28FB7BE2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F53EB-63CF-4DF1-BD7A-8CD63CC4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77138-7D6B-4B1F-86BF-95CD247B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443463-9680-474C-A9AC-E90F6C60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07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DFDD4-479F-486B-A95D-33275C3E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9B61F-C5A4-4DFE-AF49-D679E3A3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本阶段工作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69661A-DF4E-4C03-ADD1-0071EDD0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A19A5-0604-463A-87FE-C7A5C1DD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WORKSTREAM 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30AB5-268A-42CC-A9F7-9DFCBCE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研究任务一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6BD14-1BA7-4E34-926F-E4E76AA2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05E6-1BFA-4A60-8D39-5D1DAA3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D1075-202E-4C82-8A85-CB8F8817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0698A7-D93F-4421-9AAF-FF6EB8A0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AB6C2-D8CC-4589-9C1D-FF802F0A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09725"/>
            <a:ext cx="9525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A0755-AB2D-4299-BCB2-091FDFB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WORKSTREAM 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F9D37-3BA2-453D-B3CB-2B20C4DD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研究任务二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68444-8B88-4C9F-946F-F08226D1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D87E48-6821-4292-8AF7-BA807B89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09D989-4982-4B71-8756-9B6A18B0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4CA3C-6D55-47BF-B29B-B1F85692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6611A6-F37F-4471-9AEF-F928F4EC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609725"/>
            <a:ext cx="9525" cy="2590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760936-68D3-4594-BAB2-F8FE7976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WORKSTREAM 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E31422-60B9-4F6B-B124-1E85C990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研究任务三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19FC9B-37BE-4253-B8F7-0E9A3214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333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88703C-4C89-4EB0-8689-57652F0F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［阶段目标或关键问题］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B5122-F6FD-4DB0-9FA8-7DFCD3E9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3314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已完成：［填写已完成工作］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当前结果：［填写阶段结果］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待解决：［填写遇到的问题］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D47F7-40F5-4EA7-BF4A-3823442C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进度  ［填写 %］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ED6842-3671-4DD1-841E-6445E39C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529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8DF0D1-F091-45AB-B05F-E11E38A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00575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需要组会讨论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D5C3C0-5DBC-4574-B6CE-68FA5E22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86325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12C698-3303-4712-8F66-1A4C8102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ASK 01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A03325-BE56-472A-A9D2-FFBC7B6A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［需要判断的结果或方案］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BE22EE-EEA6-4EEF-8027-4E71916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ASK 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73F0B4-C2F8-4D81-860D-B17F461B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［需要的资源、协作或方法建议］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91B402-5C41-4F1B-A8F1-4712E61FB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673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ASK 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F3D644-1175-4555-8C50-5867C35B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029200"/>
            <a:ext cx="2619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［近期需要拍板的决策］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6F7551-F58F-47A3-9E4C-05D88F4D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按实际任务更新进度，并记录当前阻碍与下一步动作。</a:t>
            </a:r>
          </a:p>
        </p:txBody>
      </p:sp>
    </p:spTree>
    <p:extLst>
      <p:ext uri="{BB962C8B-B14F-4D97-AF65-F5344CB8AC3E}">
        <p14:creationId xmlns:p14="http://schemas.microsoft.com/office/powerpoint/2010/main" val="6288933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F9A9F0-2F94-4F34-82FA-071E04FF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ECB86-E00F-4735-8000-A2364567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B1171-74AB-48FC-87AA-5F4BE14F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结果与讨论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25419-E9F0-4CFC-8899-E6B30794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449D5-1A98-498B-82EF-6661CCD7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12F79F-456A-4ECA-9333-B4DA5EBD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8D393-F938-48A6-A25F-D63C3862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E8697-DFF6-4609-B1F3-FE3CA5BA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CFB06C-3365-42C2-8FA8-E58B02AE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F60E1-1F39-47EA-B573-7E0F46C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08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39F65-9977-4AF3-A252-9D318598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"/>
            <a:ext cx="2305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F87C8-C83D-4342-97D2-C9D298F5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"/>
            <a:ext cx="2305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653FD-147A-4106-B365-573E061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43025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525846-9A75-4BF4-A3AE-22396895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FA0C6-4390-48DE-AED2-88F1612F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64B229-A5D7-4CC0-8888-57A01308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图像 A｜替换为本研究结果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5A3E3-A234-4CD9-AA12-8A7DC034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43025"/>
            <a:ext cx="2305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A4708-F223-46AF-941A-177F8CA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43025"/>
            <a:ext cx="2305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165EA-06AC-474E-98A0-F753FC9F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343025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D73FDA-5981-4030-A551-8A3D0C71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48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ACE3AE-C187-4C95-BC46-7E9C8259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38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14637D-24AC-4032-B5D3-A01D645F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图像 B｜替换为本研究结果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91619-429D-43D9-98B6-409898FB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43025"/>
            <a:ext cx="2305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5A5A39-72C8-4313-BFC9-82D02B1D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43025"/>
            <a:ext cx="2305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55A19-5BCB-4418-93BF-2AF576F2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43025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70816B-71A6-4064-B394-C28D6818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4859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18104-34AF-4450-B393-4ABF8EAE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383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13C541-5681-467A-8619-E126E68C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431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图像 C｜替换为本研究结果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1C4812-0A11-4DB3-9456-B5C154D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1825"/>
            <a:ext cx="2305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C12F58-7FEB-4E35-80BC-0C80BBE3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1825"/>
            <a:ext cx="2305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168012-6308-4798-B49B-50BC7686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71825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3CD42-8762-48ED-A2A2-998B890A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3083B1-53FD-4979-88A9-823F0E86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A382AE-C0A0-41EA-A674-E668B66D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图像 D｜替换为本研究结果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D67ED0-1C6C-4BEB-A745-2486393A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2305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7A9261-8FEF-4C65-9740-171A253C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2305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AE4211-A15F-441A-880A-C4FF9731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71825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1E45CA-38A2-4EFF-A725-DF79963A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3D8ECE-6A6C-458D-BAD1-0038FBF2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671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C69B85-4526-4CEA-A23A-0A98B3F1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719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图像 E｜替换为本研究结果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47E36D-E6BD-4C0E-AA2E-F1F8400D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71825"/>
            <a:ext cx="2305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0E79C1-3E25-48C3-A7A7-C33941B1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71825"/>
            <a:ext cx="23050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17C2C5-5AA4-40AC-8B5E-E0E0A865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71825"/>
            <a:ext cx="38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00EB9B4-2640-41E4-A8C8-EECE38A2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314700"/>
            <a:ext cx="1962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F3B741-6CF9-4762-80AD-985E48872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8671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图像占位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93474A-B312-448D-BB23-6F1F11D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17195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图像 F｜替换为本研究结果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F36B44-A055-4E19-BFCD-D07573A7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276350"/>
            <a:ext cx="9525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DDE5A5-8891-49D4-86AB-CA243B95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352550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结果与讨论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B0CA8F-80AB-46C4-B907-E8320465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38325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主要观察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23C583-CC56-460F-B379-45CC984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52650"/>
            <a:ext cx="3219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［描述图像中可直接观察到的结果］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837537-C1A5-42E0-9D56-31F34C0A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0375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解释与边界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73F4A24-E736-48A2-86E2-2537ABB5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321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［联系研究问题，说明结果意义及解释限制］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A90F64-5D24-4FAA-BE23-A9015F91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05300"/>
            <a:ext cx="3219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后续问题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24B785-3364-4521-A651-2E445BE4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19625"/>
            <a:ext cx="3219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［记录需要讨论或进一步验证的内容］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B6F76E7-DD76-4725-9BF4-4CBDBC52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C334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AFCB737-3EFC-49F9-93D2-730C3EE2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34025"/>
            <a:ext cx="1116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本页结论：［概括当前证据支持的判断］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3EFB4E-73EA-4C78-BE3D-7DABC5D5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53125"/>
            <a:ext cx="11163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图注需包含分组、染色 / 检测方法、比例尺与统计说明。</a:t>
            </a:r>
          </a:p>
        </p:txBody>
      </p:sp>
    </p:spTree>
    <p:extLst>
      <p:ext uri="{BB962C8B-B14F-4D97-AF65-F5344CB8AC3E}">
        <p14:creationId xmlns:p14="http://schemas.microsoft.com/office/powerpoint/2010/main" val="857871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6BC0EC-1044-4D8E-A4A8-6ED62A66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8F9D05-DBC3-47CB-8DC2-F0AC0BB8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63F77-C860-4CA9-AA7E-FCA6E7A9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研究结果｜定量分析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73A57-3113-4888-B20A-F10E8DB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66DF26-E3E5-4C4E-AF34-C458A869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1D61D-D230-40E9-AA3F-FE8C52D7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D458C-5B50-4027-B60E-A0F32DC3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B9B97-894A-4A66-B24D-A8D9148E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B7E68-85DD-43D7-B928-46D7BFA7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56E4E-12E2-4AD5-BB2F-DAA6C791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09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E5581-ED90-4CEB-8407-CF105608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38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09647-AA48-4194-8F4B-EBCFB8F3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620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结果标题：［写出比较关系或主要变化］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10D766-B1B4-4E4D-A314-349136EE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63E5C-86B6-409F-9B27-5ADCEEB3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7067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主要结果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B9CE1-A58E-4E61-83C7-D22F0F26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38375"/>
            <a:ext cx="7067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16870-393C-4E64-A1D2-2B1809F7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70675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CCC0ED-8345-4B4D-A749-820D82A8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70675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4492C-3CC0-41DF-8A54-8EEB7898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38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AF59F-197A-45AE-BEAD-A3A6A1C4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672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A76E78"/>
                </a:solidFill>
                <a:latin typeface="PingFang SC"/>
                <a:ea typeface="PingFang SC"/>
                <a:cs typeface="PingFang SC"/>
              </a:rPr>
              <a:t>FIGURE /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FA1F4-5151-4A17-BD85-4A2CCB79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672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图表占位区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C06CB-D9C4-455A-903C-77969450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648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插入可编辑图表或原始统计图；图注包含单位、n 值和检验方法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28D60-C967-4ABB-961D-D2CA33B3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0500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D0ABCD-420F-458C-BDE2-01369A05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52625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结果数据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0BB55B-DDDB-4FA6-A586-1789A38B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38375"/>
            <a:ext cx="38290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A2B14-5146-4ED5-9B08-DBDD0704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292D"/>
          </a:solidFill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C4DDC6-7D50-4B42-8932-B4D30160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3526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DCC006-3CCC-418F-A35B-3D3FAFC3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6D8AD1-D7BA-47B3-B454-343FD889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3526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组别 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850D55-18E1-48F8-AAA1-272EB48B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765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8B78A-A3E6-498A-88E1-D7374425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9051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［指标 1］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E4D353-4B8C-45E1-AB65-9D1BB4E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A7B1DD-159D-42C2-A30D-A980CDEB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9051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［均值±SD］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736A86-2FD9-4D91-8ECC-F45CADD0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CEFA9-72A3-4FA2-A6C9-2A0F3325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5757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［指标 2］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EC48D0-7DB4-4FB5-98E7-DAC1F26F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80C070-ED04-4C5A-BB7F-48B8446E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45757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［中位数］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0C0E3C-9BC7-433E-931A-E3ADBFD7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81450"/>
            <a:ext cx="3829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5"/>
          </a:solidFill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6BE9281-1316-455C-9498-F2265943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10025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P 值 / CI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4ADA97-875C-46D7-83D7-A86D5D27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3DD29F-4C32-4AFB-8B67-5FADA74B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10025"/>
            <a:ext cx="1104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［填写］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97C356-CA4B-46B4-B62D-12756A7E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43450"/>
            <a:ext cx="3829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解读提示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750E0-9C03-409F-990C-F4B88C0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67300"/>
            <a:ext cx="3829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• 比较对象：［…］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• 效应大小：［…］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• 结论边界：［…］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786757-D132-492E-B721-96CD429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数据来源 / 统计说明：［注明数据集、时间范围或分析版本］</a:t>
            </a:r>
          </a:p>
        </p:txBody>
      </p:sp>
    </p:spTree>
    <p:extLst>
      <p:ext uri="{BB962C8B-B14F-4D97-AF65-F5344CB8AC3E}">
        <p14:creationId xmlns:p14="http://schemas.microsoft.com/office/powerpoint/2010/main" val="1386705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E93548-F274-4C8F-821F-03770BA9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6A2B8-36B1-436D-A722-7B70D14C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GONG LAB     ·     WEEKLY RESEARCH NOTES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E617A-5C83-466D-BB94-B0037474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7810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结论与讨论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A9D77-8305-46FF-8D1F-09A48D01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4325"/>
            <a:ext cx="285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3C930B-4500-4D93-B51C-499CC1E8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57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龚博士课题组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5B87E-4638-4E5E-92D5-4A7C094C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533400"/>
            <a:ext cx="1476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GROUP MEETING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5C2F1-1796-4C6F-9D2C-F3CECA3F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1163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7939C-4180-423A-AE87-B959F4C6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341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48029-0A2E-4B37-8A5D-A1E4AEE4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553200"/>
            <a:ext cx="1066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020AB-7756-44AC-8172-988C2EED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1982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777174"/>
                </a:solidFill>
                <a:latin typeface="PingFang SC"/>
                <a:ea typeface="PingFang SC"/>
                <a:cs typeface="PingFang SC"/>
              </a:rPr>
              <a:t>10  / 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7D1DD-CDE0-43D5-8BFF-6F7CEB7F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B1D58-F2E0-4CAA-A4A6-94303B47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96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核心结论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57CB75-C609-4DC1-8C99-3B943524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95425"/>
            <a:ext cx="685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5686E-E66B-484E-B593-5A6C375D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B43F14-3F67-4DE6-B1D1-3A07C3AD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9249F-E6FC-4928-9539-CC1E5D02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00200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主要发现一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F4CD91-FF0E-40AA-AFD6-2C9C576F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8595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89FD66-FE14-4C97-A3DB-BD27A271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1228CB-EBA7-4F12-9DB5-E3BB5B0C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2225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E7E26-B45F-4D2C-A288-1A3580ED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A28BD0-4FBE-4A71-A63D-9102B098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43175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主要发现二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F45A6-3AB0-445B-A301-EE433A78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28925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427691-650E-474D-944E-CE164A05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63A484-7CFD-44CE-AE6C-CF2D8B2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9D0124-09C5-4844-9BC2-0419071E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46DD47-0D05-4F2C-B443-5B147ECD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6210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主要发现三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84790-A4A6-4916-AF15-A0FEB4D2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71900"/>
            <a:ext cx="617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［直接陈述由结果支持的发现］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4E4615-09C7-4325-9D48-7B0FE4C5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6210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8C0E3E-6385-4DCB-A724-2D5BC883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1620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DE56A9-F5D8-4E77-806D-6B533B2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09675"/>
            <a:ext cx="401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讨论要点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73A439-2C86-4AB4-A1AF-4F9CF1C4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95425"/>
            <a:ext cx="4019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B425E7-9755-4067-8A1E-81FB4287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67995-3CE1-48E8-8D69-C714BFAF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意义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02837F-6922-45B5-8927-90777731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431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［与既有研究的关系或贡献］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67E74E-1C2D-4116-8051-1F1BE99A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FB425D-02A3-4E8E-8E43-8A144F932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41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A972C7-48A6-4DB0-B783-FC3DBC37F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局限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AE53B4-2D47-4302-B5D5-AB6158CD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［样本、方法或外推边界］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8E24AA-9359-4C6F-B149-5ED831FD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433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42A605-723A-42DC-BA8A-D4D31A75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290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89B6DF-038A-42D7-AE4D-78D2BCEF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下一步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3AB50C-F354-4020-B2AE-0739D0D4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5290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［后续验证或补充分析］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E85F285-7F44-46CA-AB75-0E505199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D4D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19C0FE-7767-4E2B-B44F-800ACA752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720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33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4432FF-F50E-4E26-87C9-A04CA6FC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2552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28292D"/>
                </a:solidFill>
                <a:latin typeface="PingFang SC"/>
                <a:ea typeface="PingFang SC"/>
                <a:cs typeface="PingFang SC"/>
              </a:rPr>
              <a:t>组会希望获得的反馈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0A79EC-4BAF-4FF7-965A-DC69A816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3338"/>
                </a:solidFill>
                <a:latin typeface="PingFang SC"/>
                <a:ea typeface="PingFang SC"/>
                <a:cs typeface="PingFang SC"/>
              </a:rPr>
              <a:t>［把最需要讨论的问题写清楚：解释、实验设计、统计方案或资源安排］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EED4A5-62FA-4E95-B305-05B5DA9D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11163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8C3344"/>
                </a:solidFill>
                <a:latin typeface="PingFang SC"/>
                <a:ea typeface="PingFang SC"/>
                <a:cs typeface="PingFang SC"/>
              </a:rPr>
              <a:t>谢谢｜欢迎讨论</a:t>
            </a:r>
          </a:p>
        </p:txBody>
      </p:sp>
    </p:spTree>
    <p:extLst>
      <p:ext uri="{BB962C8B-B14F-4D97-AF65-F5344CB8AC3E}">
        <p14:creationId xmlns:p14="http://schemas.microsoft.com/office/powerpoint/2010/main" val="9308742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2026-09-29T04:27:52.2060000Z</dcterms:created>
  <dcterms:modified xsi:type="dcterms:W3CDTF">2026-09-29T04:27:52.2060000Z</dcterms:modified>
</coreProperties>
</file>