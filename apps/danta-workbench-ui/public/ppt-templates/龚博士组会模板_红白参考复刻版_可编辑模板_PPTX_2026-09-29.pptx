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94281bed8b4c29" /><Relationship Type="http://schemas.openxmlformats.org/officeDocument/2006/relationships/extended-properties" Target="/docProps/app.xml" Id="Rd193f10b5c9b4a9e" /><Relationship Type="http://schemas.openxmlformats.org/officeDocument/2006/relationships/officeDocument" Target="/ppt/presentation.xml" Id="R415588cd53b64e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6e8b72c00b408d"/>
  </p:sldMasterIdLst>
  <p:notesMasterIdLst>
    <p:notesMasterId xmlns:r="http://schemas.openxmlformats.org/officeDocument/2006/relationships" r:id="R7f1d7a507283448e"/>
  </p:notesMasterIdLst>
  <p:sldIdLst>
    <p:sldId xmlns:r="http://schemas.openxmlformats.org/officeDocument/2006/relationships" id="256" r:id="Rda4b769bbdc14afa"/>
    <p:sldId xmlns:r="http://schemas.openxmlformats.org/officeDocument/2006/relationships" id="257" r:id="R31e4bc4510104be6"/>
    <p:sldId xmlns:r="http://schemas.openxmlformats.org/officeDocument/2006/relationships" id="258" r:id="R3724697530074b22"/>
    <p:sldId xmlns:r="http://schemas.openxmlformats.org/officeDocument/2006/relationships" id="259" r:id="Ra5aadfcb000e480a"/>
    <p:sldId xmlns:r="http://schemas.openxmlformats.org/officeDocument/2006/relationships" id="260" r:id="R12ed29b47ee749a8"/>
    <p:sldId xmlns:r="http://schemas.openxmlformats.org/officeDocument/2006/relationships" id="261" r:id="R6221638b82224a55"/>
    <p:sldId xmlns:r="http://schemas.openxmlformats.org/officeDocument/2006/relationships" id="262" r:id="R4c01f933d5744083"/>
    <p:sldId xmlns:r="http://schemas.openxmlformats.org/officeDocument/2006/relationships" id="263" r:id="R0ca1adab711a4c04"/>
    <p:sldId xmlns:r="http://schemas.openxmlformats.org/officeDocument/2006/relationships" id="264" r:id="R17f60acc19f14fe2"/>
    <p:sldId xmlns:r="http://schemas.openxmlformats.org/officeDocument/2006/relationships" id="265" r:id="R3a6ee9eda5c243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880d1baeb64cc8" /><Relationship Type="http://schemas.openxmlformats.org/officeDocument/2006/relationships/slideMaster" Target="/ppt/slideMasters/slideMaster1.xml" Id="R8e6e8b72c00b408d" /><Relationship Type="http://schemas.openxmlformats.org/officeDocument/2006/relationships/notesMaster" Target="/ppt/notesMasters/notesMaster1.xml" Id="R7f1d7a507283448e" /><Relationship Type="http://schemas.openxmlformats.org/officeDocument/2006/relationships/presProps" Target="/ppt/presProps.xml" Id="Rdfa8fa9597254cca" /><Relationship Type="http://schemas.openxmlformats.org/officeDocument/2006/relationships/tableStyles" Target="/ppt/tableStyles.xml" Id="R08a8fede1a03453f" /><Relationship Type="http://schemas.openxmlformats.org/officeDocument/2006/relationships/slide" Target="/ppt/slides/slide1.xml" Id="Rda4b769bbdc14afa" /><Relationship Type="http://schemas.openxmlformats.org/officeDocument/2006/relationships/slide" Target="/ppt/slides/slide2.xml" Id="R31e4bc4510104be6" /><Relationship Type="http://schemas.openxmlformats.org/officeDocument/2006/relationships/slide" Target="/ppt/slides/slide3.xml" Id="R3724697530074b22" /><Relationship Type="http://schemas.openxmlformats.org/officeDocument/2006/relationships/slide" Target="/ppt/slides/slide4.xml" Id="Ra5aadfcb000e480a" /><Relationship Type="http://schemas.openxmlformats.org/officeDocument/2006/relationships/slide" Target="/ppt/slides/slide5.xml" Id="R12ed29b47ee749a8" /><Relationship Type="http://schemas.openxmlformats.org/officeDocument/2006/relationships/slide" Target="/ppt/slides/slide6.xml" Id="R6221638b82224a55" /><Relationship Type="http://schemas.openxmlformats.org/officeDocument/2006/relationships/slide" Target="/ppt/slides/slide7.xml" Id="R4c01f933d5744083" /><Relationship Type="http://schemas.openxmlformats.org/officeDocument/2006/relationships/slide" Target="/ppt/slides/slide8.xml" Id="R0ca1adab711a4c04" /><Relationship Type="http://schemas.openxmlformats.org/officeDocument/2006/relationships/slide" Target="/ppt/slides/slide9.xml" Id="R17f60acc19f14fe2" /><Relationship Type="http://schemas.openxmlformats.org/officeDocument/2006/relationships/slide" Target="/ppt/slides/slide10.xml" Id="R3a6ee9eda5c243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4d89db15bd48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5a46dc217645dc" /><Relationship Type="http://schemas.openxmlformats.org/officeDocument/2006/relationships/notesMaster" Target="/ppt/notesMasters/notesMaster1.xml" Id="R5718d79ed7054c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75d9a71b4d4f97" /><Relationship Type="http://schemas.openxmlformats.org/officeDocument/2006/relationships/notesMaster" Target="/ppt/notesMasters/notesMaster1.xml" Id="Rb74ff451592341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98182fcc6948ac" /><Relationship Type="http://schemas.openxmlformats.org/officeDocument/2006/relationships/notesMaster" Target="/ppt/notesMasters/notesMaster1.xml" Id="Rac91a32ea7d648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72317596d646e9" /><Relationship Type="http://schemas.openxmlformats.org/officeDocument/2006/relationships/notesMaster" Target="/ppt/notesMasters/notesMaster1.xml" Id="Rff4d08d2e6d645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3c4eff7bae4257" /><Relationship Type="http://schemas.openxmlformats.org/officeDocument/2006/relationships/notesMaster" Target="/ppt/notesMasters/notesMaster1.xml" Id="R5a59b133f7f345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7d879881e34678" /><Relationship Type="http://schemas.openxmlformats.org/officeDocument/2006/relationships/notesMaster" Target="/ppt/notesMasters/notesMaster1.xml" Id="R9041b3fd5f5c45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210fbcdd6d47b6" /><Relationship Type="http://schemas.openxmlformats.org/officeDocument/2006/relationships/notesMaster" Target="/ppt/notesMasters/notesMaster1.xml" Id="R202fe770875646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04b0808beb4d37" /><Relationship Type="http://schemas.openxmlformats.org/officeDocument/2006/relationships/notesMaster" Target="/ppt/notesMasters/notesMaster1.xml" Id="R9112f53201184a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ef7ecd57fc4f2b" /><Relationship Type="http://schemas.openxmlformats.org/officeDocument/2006/relationships/notesMaster" Target="/ppt/notesMasters/notesMaster1.xml" Id="R249acb2d644949e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a45ea3454c42f1" /><Relationship Type="http://schemas.openxmlformats.org/officeDocument/2006/relationships/notesMaster" Target="/ppt/notesMasters/notesMaster1.xml" Id="R0ab6486726ee47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6601b177374a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6a3b8bb0104714" /><Relationship Type="http://schemas.openxmlformats.org/officeDocument/2006/relationships/slideLayout" Target="/ppt/slideLayouts/slideLayout1.xml" Id="Ra1b2879dd4f346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b2879dd4f346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5544f1387144ab" /><Relationship Type="http://schemas.openxmlformats.org/officeDocument/2006/relationships/image" Target="/ppt/media/image.png" Id="Rf7a000919ed24f9d" /><Relationship Type="http://schemas.openxmlformats.org/officeDocument/2006/relationships/notesSlide" Target="/ppt/notesSlides/notesSlide1.xml" Id="R9ae2c6bd0a564b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95b1f17e54562" /><Relationship Type="http://schemas.openxmlformats.org/officeDocument/2006/relationships/notesSlide" Target="/ppt/notesSlides/notesSlide2.xml" Id="Rec8629ea7b2b49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fadb3ace84ee0" /><Relationship Type="http://schemas.openxmlformats.org/officeDocument/2006/relationships/notesSlide" Target="/ppt/notesSlides/notesSlide3.xml" Id="R81d7eab0db1542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8f4bf589245b3" /><Relationship Type="http://schemas.openxmlformats.org/officeDocument/2006/relationships/notesSlide" Target="/ppt/notesSlides/notesSlide4.xml" Id="R71ddd23b870d43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81223d3134ea0" /><Relationship Type="http://schemas.openxmlformats.org/officeDocument/2006/relationships/notesSlide" Target="/ppt/notesSlides/notesSlide5.xml" Id="Rdd00b43546ab4f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a4ebcd53d46a6" /><Relationship Type="http://schemas.openxmlformats.org/officeDocument/2006/relationships/notesSlide" Target="/ppt/notesSlides/notesSlide6.xml" Id="Rf6e4d5af042b42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eb33a897d47fc" /><Relationship Type="http://schemas.openxmlformats.org/officeDocument/2006/relationships/notesSlide" Target="/ppt/notesSlides/notesSlide7.xml" Id="Re2e67f0c078b4b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0d27c853041ee" /><Relationship Type="http://schemas.openxmlformats.org/officeDocument/2006/relationships/notesSlide" Target="/ppt/notesSlides/notesSlide8.xml" Id="Re6b05f6b3cde43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a7c1040c94e6a" /><Relationship Type="http://schemas.openxmlformats.org/officeDocument/2006/relationships/notesSlide" Target="/ppt/notesSlides/notesSlide9.xml" Id="R9f167cfb7af24a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65979658c46fa" /><Relationship Type="http://schemas.openxmlformats.org/officeDocument/2006/relationships/notesSlide" Target="/ppt/notesSlides/notesSlide10.xml" Id="R25fb50cdbca042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765C11-6B6C-4B3D-A873-C9C60E97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a000919ed24f9d"/>
          <a:srcRect xmlns:a="http://schemas.openxmlformats.org/drawingml/2006/main" l="12931" t="0" r="129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7375" y="0"/>
            <a:ext cx="6524625" cy="4953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BBDDEB-9B7A-405C-9EE9-D12295DC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715250" cy="4953000"/>
          </a:xfrm>
          <a:custGeom xmlns:a="http://schemas.openxmlformats.org/drawingml/2006/main">
            <a:pathLst>
              <a:path w="7715250" h="4953000">
                <a:moveTo>
                  <a:pt x="0" y="0"/>
                </a:moveTo>
                <a:lnTo>
                  <a:pt x="7715250" y="0"/>
                </a:lnTo>
                <a:lnTo>
                  <a:pt x="6381750" y="4953000"/>
                </a:lnTo>
                <a:lnTo>
                  <a:pt x="0" y="4953000"/>
                </a:lnTo>
                <a:close/>
              </a:path>
            </a:pathLst>
          </a:custGeom>
          <a:solidFill xmlns:a="http://schemas.openxmlformats.org/drawingml/2006/main">
            <a:srgbClr val="7E0B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7D787-B372-46CE-AF42-FB12E52A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66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研究生组会文献汇报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B3366-F15E-4F32-9ACD-15AE2EC2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628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通用 PPT 模板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12A58-A9EC-4C7A-85AF-76304FA6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5AE9E-F525-4158-9802-35B655E7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523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课题名称：在此填写研究方向或汇报主题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9924C-8D8C-4804-A185-47B9F125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47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F9EDE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9EDEE"/>
                </a:solidFill>
                <a:latin typeface="PingFang SC"/>
                <a:ea typeface="PingFang SC"/>
                <a:cs typeface="PingFang SC"/>
              </a:rPr>
              <a:t>研究生组会 · 文献汇报 / 阶段进展 / 结果讨论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FDB5D5-21E6-414A-ABC2-9039C3B0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38150" cy="438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A23DEF-7FE4-4F3A-8687-803160A4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285750" cy="285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B996CC-BF31-4F24-8893-E9191249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EEFE0-886C-4728-A800-EE668E58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龚博士课题组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0DEC8C-624D-48EC-8FFF-486CE256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15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F9EDEE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9EDEE"/>
                </a:solidFill>
                <a:latin typeface="PingFang SC"/>
                <a:ea typeface="PingFang SC"/>
                <a:cs typeface="PingFang SC"/>
              </a:rPr>
              <a:t>GROUP MEETING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70411F-EE29-4632-AF15-615E7224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9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5A2D48-1289-4C3C-94A4-191869CA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汇报人：龚博士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BEF3A1-5429-4947-8B1F-59DF3C7A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7150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汇报时间：202X年X月X日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48AE0B-CD9E-49F7-B8E0-45F9AFBE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实验室 / 课题组：________________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EDE400-A51D-4BBE-86E7-41FB5000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569185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BB3E20-A9E3-4520-9B90-7AC47661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97B57-5998-4D70-ACC4-BD1D82D5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921BB-0C31-4507-9420-155B50CA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275"/>
            <a:ext cx="4953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10749-5A1F-4736-88BA-004F2D8F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275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12F9F-5367-42EA-9D02-C920A32B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目录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EAD0D-AEC1-4AFD-B326-1859B41A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438150" cy="438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4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B442A-911C-41A3-AA65-F68B21BE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42900"/>
            <a:ext cx="285750" cy="285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4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4C469D-7737-4EC7-BD9B-78D29DFE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429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A4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A40000"/>
                </a:solidFill>
                <a:latin typeface="PingFang SC"/>
                <a:ea typeface="PingFang SC"/>
                <a:cs typeface="PingFang SC"/>
              </a:rPr>
              <a:t>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11E89-4867-4D4C-AA87-429D369F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857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A4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A40000"/>
                </a:solidFill>
                <a:latin typeface="PingFang SC"/>
                <a:ea typeface="PingFang SC"/>
                <a:cs typeface="PingFang SC"/>
              </a:rPr>
              <a:t>龚博士课题组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0323F2-8664-4FAB-8328-7C887821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5334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GROUP MEETING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46A0C4-567E-4767-8D2B-C50A5E88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76300"/>
            <a:ext cx="11353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BCECA6-C5EA-42ED-9B05-89A25125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34150"/>
            <a:ext cx="11353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4B52D4-2A38-46FD-B97A-77E9F4F4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4840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02  /  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8929F5-D6DA-4B0B-81BE-4CDB5030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C86F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86F75"/>
                </a:solidFill>
                <a:latin typeface="PingFang SC"/>
                <a:ea typeface="PingFang SC"/>
                <a:cs typeface="PingFang SC"/>
              </a:rPr>
              <a:t>CONTENTS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3BFBA7-9192-40AD-93D1-A62D3CB1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2667000" cy="37719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63A379-3E00-4686-BA23-3BAF08F3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2038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组会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汇报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A8BA7A-EF62-4222-A741-68775485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7147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F9EDEE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9EDEE"/>
                </a:solidFill>
                <a:latin typeface="PingFang SC"/>
                <a:ea typeface="PingFang SC"/>
                <a:cs typeface="PingFang SC"/>
              </a:rPr>
              <a:t>从研究问题到下一步计划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BB269A-E2E7-467A-8CCD-F043B64A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49530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7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BC1852-6756-4DAC-9ECF-1E12E7E3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A4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A4000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6EF934-B055-41DE-BDED-45C920E7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文献与研究问题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093524-92AC-4C7F-8F26-41E283C2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24075"/>
            <a:ext cx="609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0AAC2A-2619-49F0-B173-B926F4E8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49530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7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7EA04E-CDC6-40FC-B6BC-F9C52C11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A4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A4000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97D2B3-AE52-47C4-B68A-C35DDCE7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6220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研究背景与科学假设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6C602E-7957-4BB9-8F65-5AC03344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67025"/>
            <a:ext cx="609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629546-02C4-410D-97BF-D257E48E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05150"/>
            <a:ext cx="49530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7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6C3603-32A9-4EA1-BF75-AF2AF21C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0515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A4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A4000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7EFA59-05B3-4397-82C8-556C9B7D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0515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研究设计与技术路线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5C43AD-202C-42BE-A9F2-E7B07791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09975"/>
            <a:ext cx="609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4780D0-1003-460D-9007-5A015BE6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48100"/>
            <a:ext cx="49530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7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EFD297-DF21-49C2-9593-3922896D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4810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A4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A4000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BDEDCE-684E-4BA3-96CB-9CC3405F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4810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阶段进展与结果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DC9ECB-06B7-4A05-9652-9D19847C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52925"/>
            <a:ext cx="609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317CD3-A16F-4BC5-818B-AA35263D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91050"/>
            <a:ext cx="49530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7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983232-EE93-44E7-8D5B-47345AE4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9105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A4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A4000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3BFCC2-EBB6-46F6-BBA7-E69A16C0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9105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结论、讨论与计划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D7A98C-8B2A-44EC-9EBF-BE1C684C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95875"/>
            <a:ext cx="609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C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500549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6BC002-9113-45CC-8855-7ADF897F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58A24-55DE-408C-9401-A2947EBF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D8F80-7270-455D-AC43-58FDC301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275"/>
            <a:ext cx="4953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D3539-18FE-422C-BAF1-7F62FAD0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275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B756B-CF29-4899-B07B-F4DF85CE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文献与研究问题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57055-37AD-43EE-948D-024D284D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438150" cy="438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4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1694B-A931-48F1-9D33-7D8732FD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42900"/>
            <a:ext cx="285750" cy="285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4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036829-3E6C-4BD5-A324-439D3E86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429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A4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A40000"/>
                </a:solidFill>
                <a:latin typeface="PingFang SC"/>
                <a:ea typeface="PingFang SC"/>
                <a:cs typeface="PingFang SC"/>
              </a:rPr>
              <a:t>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FF90FA-7214-4693-86D0-228D62CD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857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A4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A40000"/>
                </a:solidFill>
                <a:latin typeface="PingFang SC"/>
                <a:ea typeface="PingFang SC"/>
                <a:cs typeface="PingFang SC"/>
              </a:rPr>
              <a:t>龚博士课题组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ED05E8-0229-496E-B2A1-B2FBE2A4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5334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GROUP MEETING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6236CC-A48B-48F7-813C-CE9F3DAD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76300"/>
            <a:ext cx="11353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1F5620-3C6F-4176-9AAF-24BA0A5D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34150"/>
            <a:ext cx="11353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DAC650-5961-473A-B2E1-6F50FF6C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4840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03  /  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DC36E6-8577-404D-8BF8-B3B6DA44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111633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7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8999C3-C426-477E-9128-20DDD635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81F413-F927-45C5-8876-D6ADE32A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87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文献信息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932C3F-9E85-4F14-9E1F-1C956DA5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7000875" cy="2590800"/>
          </a:xfrm>
          <a:prstGeom xmlns:a="http://schemas.openxmlformats.org/drawingml/2006/main" prst="roundRect">
            <a:avLst>
              <a:gd name="adj" fmla="val 1838"/>
            </a:avLst>
          </a:prstGeom>
          <a:solidFill xmlns:a="http://schemas.openxmlformats.org/drawingml/2006/main">
            <a:srgbClr val="FCF8F8"/>
          </a:solidFill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E08A11-CBB7-46A6-9EC2-C126CE8B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6810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C86F7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86F75"/>
                </a:solidFill>
                <a:latin typeface="PingFang SC"/>
                <a:ea typeface="PingFang SC"/>
                <a:cs typeface="PingFang SC"/>
              </a:rPr>
              <a:t>论文首页 / 图文摘要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739382-B3C0-4C12-8C14-5960D5D5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1800"/>
            <a:ext cx="6734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替换为论文首页截图、图文摘要或关键示意图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50133D-0C32-4079-BD04-9F22C51E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562100"/>
            <a:ext cx="3895725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7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E40F3C-68B0-45BF-B6C7-7C5096B0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56210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16BC1D-6D84-432A-A184-FD51DBC3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90675"/>
            <a:ext cx="3609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作者与团队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B3CC06-004F-44D2-AF28-5797846F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09775"/>
            <a:ext cx="355282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作者：［第一作者等］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单位：［研究机构］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期刊：［期刊名称，年份，卷（期）］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DOI：［粘贴 DOI 或链接］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FE977C-DDAF-4230-969E-1323EC4D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111633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7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42F6AE-9A5B-4E00-A32D-5C0E09AE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6992E5-CB59-44F3-9A3E-CBE01F56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1087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研究问题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AD315C-9DD0-46FA-A852-69BC8EDE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76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这篇文献要回答什么问题？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502E26-50DB-43FE-920A-54908358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48275"/>
            <a:ext cx="10591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A4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A40000"/>
                </a:solidFill>
                <a:latin typeface="PingFang SC"/>
                <a:ea typeface="PingFang SC"/>
                <a:cs typeface="PingFang SC"/>
              </a:rPr>
              <a:t>［用一句话概括核心研究问题］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014049-800B-4B4F-BA64-8924946B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汇报时先说明“为什么读这篇”，再说明研究设计和主要发现。</a:t>
            </a:r>
          </a:p>
        </p:txBody>
      </p:sp>
    </p:spTree>
    <p:extLst>
      <p:ext uri="{BB962C8B-B14F-4D97-AF65-F5344CB8AC3E}">
        <p14:creationId xmlns:p14="http://schemas.microsoft.com/office/powerpoint/2010/main" val="2928223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4DBD703-18F1-46F0-AC81-610F1B15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BB4C57-F6A1-40CC-B292-E15B815A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788D8-B1ED-49D6-9E49-BC9B1146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275"/>
            <a:ext cx="4953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A7F95E-3265-4A4B-B0CE-51F90999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275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5275B-CF26-490E-98C7-25DC2CA9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研究背景与科学问题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A0E4D-C4A8-442C-9555-C1029660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438150" cy="438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4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DDBE8-1638-4214-8B06-C7691942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42900"/>
            <a:ext cx="285750" cy="285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4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BCEAAC-7009-47B0-898E-BCC56A89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429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A4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A40000"/>
                </a:solidFill>
                <a:latin typeface="PingFang SC"/>
                <a:ea typeface="PingFang SC"/>
                <a:cs typeface="PingFang SC"/>
              </a:rPr>
              <a:t>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933774-68A1-4C66-8770-1E080687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857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A4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A40000"/>
                </a:solidFill>
                <a:latin typeface="PingFang SC"/>
                <a:ea typeface="PingFang SC"/>
                <a:cs typeface="PingFang SC"/>
              </a:rPr>
              <a:t>龚博士课题组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87AB35-3204-448A-8CD1-AB043FAD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5334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GROUP MEETING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9333B4-1846-48D2-8692-1741E21C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76300"/>
            <a:ext cx="11353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BBC42-0635-45E6-A1AA-37B03B5F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34150"/>
            <a:ext cx="11353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672017-9A8E-4E52-AF26-670AF31E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4840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04  /  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C95BB2-5106-426B-8C94-1D407099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95375"/>
            <a:ext cx="11163300" cy="790575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7E0B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A17062-A64A-4EFA-909B-CC4118F2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2872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核心背景：［用一句话说明已知事实及其与本研究的关系］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CD5239-3592-4B75-AD65-4C28E0DA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35242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7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167FD0-C5EA-4E28-9995-622AE59B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EC64E5-7EE2-4213-822B-2B044869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研究现状与待解决问题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0E92E2-7027-4334-8493-69848312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03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923502-46AC-48AD-A837-B1664C9F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03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CF5D91-3AC0-46FE-8F1F-28E8747D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90800"/>
            <a:ext cx="2933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已有认识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81E549-0983-4722-8D16-8D023DD5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2905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［关键发现或共识；补充来源］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8691BB-F637-4D2A-9C7D-19DE907A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337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985383-12EB-46E0-984A-87DDEAE3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337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CB9F13-EE3D-4C05-9897-655A9A64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24250"/>
            <a:ext cx="2933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证据缺口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BFD88F-F4D4-401D-9646-5425BD7E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2905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［现有研究未解释清楚的部分］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D53A7E-4841-446D-836D-4235012C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672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C1E17E-9DFA-4DEA-BE0F-72CC18CC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672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63891C-F840-4E07-AC9B-12B8A49C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57700"/>
            <a:ext cx="2933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本研究切入点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01DC0E-CAA4-47C5-9192-97903C72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43450"/>
            <a:ext cx="2905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［本研究如何回应上述缺口］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7D870E-FE31-48E6-8218-FBB48C29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14550"/>
            <a:ext cx="73914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7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2F8B3D-5C7E-41B6-9EA8-4A491459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1455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0D35C0-87AE-4EDC-9C52-77AC36DA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43125"/>
            <a:ext cx="710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关键证据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60C87B-6C51-485A-A150-7931005B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0"/>
            <a:ext cx="2305050" cy="2324100"/>
          </a:xfrm>
          <a:prstGeom xmlns:a="http://schemas.openxmlformats.org/drawingml/2006/main" prst="roundRect">
            <a:avLst>
              <a:gd name="adj" fmla="val 2066"/>
            </a:avLst>
          </a:prstGeom>
          <a:solidFill xmlns:a="http://schemas.openxmlformats.org/drawingml/2006/main">
            <a:srgbClr val="FCF8F8"/>
          </a:solidFill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3FA927-5B5F-4DC4-9DB2-9E34C2D2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6235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C86F7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86F75"/>
                </a:solidFill>
                <a:latin typeface="PingFang SC"/>
                <a:ea typeface="PingFang SC"/>
                <a:cs typeface="PingFang SC"/>
              </a:rPr>
              <a:t>证据 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6344B9-9424-4C4A-873F-24EDDE9B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4810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替换为代表性文献图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802226-D8FD-49E9-811C-C80A11D9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71750"/>
            <a:ext cx="2305050" cy="2324100"/>
          </a:xfrm>
          <a:prstGeom xmlns:a="http://schemas.openxmlformats.org/drawingml/2006/main" prst="roundRect">
            <a:avLst>
              <a:gd name="adj" fmla="val 2066"/>
            </a:avLst>
          </a:prstGeom>
          <a:solidFill xmlns:a="http://schemas.openxmlformats.org/drawingml/2006/main">
            <a:srgbClr val="FCF8F8"/>
          </a:solidFill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EF9877-FDC9-4B72-AD3F-BBFC2622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6235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C86F7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86F75"/>
                </a:solidFill>
                <a:latin typeface="PingFang SC"/>
                <a:ea typeface="PingFang SC"/>
                <a:cs typeface="PingFang SC"/>
              </a:rPr>
              <a:t>证据 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B98962-2E9D-4EE9-9BB4-3A4DFC3C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4810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替换为代表性文献图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3D1666-D405-47ED-B4C5-D708AE06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71750"/>
            <a:ext cx="2324100" cy="2324100"/>
          </a:xfrm>
          <a:prstGeom xmlns:a="http://schemas.openxmlformats.org/drawingml/2006/main" prst="roundRect">
            <a:avLst>
              <a:gd name="adj" fmla="val 2049"/>
            </a:avLst>
          </a:prstGeom>
          <a:solidFill xmlns:a="http://schemas.openxmlformats.org/drawingml/2006/main">
            <a:srgbClr val="FCF8F8"/>
          </a:solidFill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642AF7-63C0-4C3A-B79B-E30BE140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623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C86F7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86F75"/>
                </a:solidFill>
                <a:latin typeface="PingFang SC"/>
                <a:ea typeface="PingFang SC"/>
                <a:cs typeface="PingFang SC"/>
              </a:rPr>
              <a:t>证据 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4FF2DC6-55FC-4D74-9A9B-A8526AE4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481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替换为代表性文献图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C7C198-BF70-4CFB-8AD0-CB6E048F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95875"/>
            <a:ext cx="7391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引用：作者，期刊，年份；图像需注明原文图号或来源。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D9A97B-1684-4FC2-9878-D75FF2D5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72125"/>
            <a:ext cx="1116330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7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BD0CA11-1CB2-43BB-870E-8E5AE699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92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科学问题  ｜  ［将研究背景收束为一个可检验的问题］</a:t>
            </a:r>
          </a:p>
        </p:txBody>
      </p:sp>
    </p:spTree>
    <p:extLst>
      <p:ext uri="{BB962C8B-B14F-4D97-AF65-F5344CB8AC3E}">
        <p14:creationId xmlns:p14="http://schemas.microsoft.com/office/powerpoint/2010/main" val="12794150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A85D0D3-D5F4-4E11-8317-9EC16502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57DD0-3E7D-4896-A0D0-B8E14D94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7C3FE-8579-4C2F-B719-077C9F57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275"/>
            <a:ext cx="4953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699610-341E-4C96-93A0-52E2E4B9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275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39ABD-94C4-486C-B02D-AA999B03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研究目标与科学假设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14B269-D158-4198-8104-444CCE42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438150" cy="438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4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A7CB5E-AC84-4325-8BF6-83867488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42900"/>
            <a:ext cx="285750" cy="285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4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95EC02-3AF8-4C1C-9B9F-581B1C66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429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A4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A40000"/>
                </a:solidFill>
                <a:latin typeface="PingFang SC"/>
                <a:ea typeface="PingFang SC"/>
                <a:cs typeface="PingFang SC"/>
              </a:rPr>
              <a:t>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ADCFC-48EB-4907-8402-AEFECF76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857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A4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A40000"/>
                </a:solidFill>
                <a:latin typeface="PingFang SC"/>
                <a:ea typeface="PingFang SC"/>
                <a:cs typeface="PingFang SC"/>
              </a:rPr>
              <a:t>龚博士课题组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17A32D-AADA-463F-B11F-D7892085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5334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GROUP MEETING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1F280A-9E22-49D9-9670-CEFC2B5F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76300"/>
            <a:ext cx="11353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47B59-4461-40DD-A1FB-0ED5BE47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34150"/>
            <a:ext cx="11353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92F122-8DA0-4A0D-804B-D2541432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4840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05  /  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BBD100-F17C-4A5B-8A70-E75A83C9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7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52B299-082D-4B36-A95C-7C1BA501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EF351C-DC1A-480A-B8A7-9E0D2B84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87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研究目标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361594-537F-4519-95E9-31FEC74C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3524250" cy="1371600"/>
          </a:xfrm>
          <a:prstGeom xmlns:a="http://schemas.openxmlformats.org/drawingml/2006/main" prst="roundRect">
            <a:avLst>
              <a:gd name="adj" fmla="val 3472"/>
            </a:avLst>
          </a:prstGeom>
          <a:solidFill xmlns:a="http://schemas.openxmlformats.org/drawingml/2006/main">
            <a:srgbClr val="FCF8F8"/>
          </a:solidFill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7607E8-ADE6-4222-8412-CBE2A091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F06E9A-FE50-472E-AF4B-21C1F754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B9BB55-AD58-400F-80C4-B61BEE14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7907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目标一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B57311-9A3F-49B6-BF6C-970A0381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381250"/>
            <a:ext cx="3086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［描述目标或研究内容］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A8A07C-41BE-4FFD-8720-DA8337AA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00200"/>
            <a:ext cx="3524250" cy="1371600"/>
          </a:xfrm>
          <a:prstGeom xmlns:a="http://schemas.openxmlformats.org/drawingml/2006/main" prst="roundRect">
            <a:avLst>
              <a:gd name="adj" fmla="val 3472"/>
            </a:avLst>
          </a:prstGeom>
          <a:solidFill xmlns:a="http://schemas.openxmlformats.org/drawingml/2006/main">
            <a:srgbClr val="FCF8F8"/>
          </a:solidFill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6A119C-5BF5-4886-A1A9-D8ADB486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90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76CDD0-E685-4851-893F-E10FBEF1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907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B715BA-DD17-4EF8-B419-67BC1626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907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目标二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FA8D5E-4A10-43C9-A4DA-433A2501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381250"/>
            <a:ext cx="3086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［描述目标或研究内容］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50BBB8-532C-4D99-BBA9-D1751845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00200"/>
            <a:ext cx="3524250" cy="1371600"/>
          </a:xfrm>
          <a:prstGeom xmlns:a="http://schemas.openxmlformats.org/drawingml/2006/main" prst="roundRect">
            <a:avLst>
              <a:gd name="adj" fmla="val 3472"/>
            </a:avLst>
          </a:prstGeom>
          <a:solidFill xmlns:a="http://schemas.openxmlformats.org/drawingml/2006/main">
            <a:srgbClr val="FCF8F8"/>
          </a:solidFill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9B5785-87C2-4DF0-B575-66210729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B034E9-F391-43D6-8435-8D2D36CC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D3D28A-38EA-4AEC-8119-C0ABA197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907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目标三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DD3FA6-E4F8-4BCA-9A70-92F1E834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3086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［描述目标或研究内容］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2AF1BC-8864-439C-8E62-6A5831C7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111633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7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242066-0929-4C25-B18D-22391444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81DC83-B247-4D33-B774-D06C0C33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7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科学假设与预期关系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EDA991-A10E-48AA-880B-B9BC0BE4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90950"/>
            <a:ext cx="11163300" cy="180975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EE9CD5-D084-459C-B143-4FDA0A2C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2076450" cy="895350"/>
          </a:xfrm>
          <a:prstGeom xmlns:a="http://schemas.openxmlformats.org/drawingml/2006/main" prst="roundRect">
            <a:avLst>
              <a:gd name="adj" fmla="val 5319"/>
            </a:avLst>
          </a:prstGeom>
          <a:solidFill xmlns:a="http://schemas.openxmlformats.org/drawingml/2006/main">
            <a:srgbClr val="FCF8F8"/>
          </a:solidFill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D57831-BC0D-4DB5-AEF6-916CE9EF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研究对象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548218-13A2-47CC-8517-BF95FD7D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［人群 / 模型］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AE57EB-FC73-4C7B-AA73-5D1DF76A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39102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6E2C88-530A-4DA9-9139-4776F710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152900"/>
            <a:ext cx="2076450" cy="895350"/>
          </a:xfrm>
          <a:prstGeom xmlns:a="http://schemas.openxmlformats.org/drawingml/2006/main" prst="roundRect">
            <a:avLst>
              <a:gd name="adj" fmla="val 5319"/>
            </a:avLst>
          </a:prstGeom>
          <a:solidFill xmlns:a="http://schemas.openxmlformats.org/drawingml/2006/main">
            <a:srgbClr val="FCF8F8"/>
          </a:solidFill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BA86AA-DCDA-4561-AC87-DD4547B7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672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关键因素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12E021-0DCA-4AE2-A3C8-E5E5E5C2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59105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［暴露 / 处理］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D8E951-A469-4F6B-A33B-A38A64EB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39102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648B76B-20FD-4F92-9FC1-E6E9E4F2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52900"/>
            <a:ext cx="2076450" cy="895350"/>
          </a:xfrm>
          <a:prstGeom xmlns:a="http://schemas.openxmlformats.org/drawingml/2006/main" prst="roundRect">
            <a:avLst>
              <a:gd name="adj" fmla="val 5319"/>
            </a:avLst>
          </a:prstGeom>
          <a:solidFill xmlns:a="http://schemas.openxmlformats.org/drawingml/2006/main">
            <a:srgbClr val="FCF8F8"/>
          </a:solidFill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2A48371-DDB5-41A4-8921-D347B233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672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作用机制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4C5A5C-33D3-4345-A0C1-2D30ED98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9105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［中间环节］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440F37D-6A1F-499A-A4BE-3906F795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39102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94DB7A5-5FF4-4969-87DA-423D1A7D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52900"/>
            <a:ext cx="2076450" cy="895350"/>
          </a:xfrm>
          <a:prstGeom xmlns:a="http://schemas.openxmlformats.org/drawingml/2006/main" prst="roundRect">
            <a:avLst>
              <a:gd name="adj" fmla="val 5319"/>
            </a:avLst>
          </a:prstGeom>
          <a:solidFill xmlns:a="http://schemas.openxmlformats.org/drawingml/2006/main">
            <a:srgbClr val="F7EEEE"/>
          </a:solidFill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470E686-87D9-4FEB-B884-B8C69549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672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研究结局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A2D184C-68EA-4816-8E50-0F571187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9105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［主要结局］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B8DBA37-B49F-44FD-8035-2D547A95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A4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A40000"/>
                </a:solidFill>
                <a:latin typeface="PingFang SC"/>
                <a:ea typeface="PingFang SC"/>
                <a:cs typeface="PingFang SC"/>
              </a:rPr>
              <a:t>假设：［用一句话写出预期方向及其理论依据］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32AF18E-30E2-4197-80DF-D2F925D9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67400"/>
            <a:ext cx="1116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请把“预期”与“已经观察到的结果”分开表述。</a:t>
            </a:r>
          </a:p>
        </p:txBody>
      </p:sp>
    </p:spTree>
    <p:extLst>
      <p:ext uri="{BB962C8B-B14F-4D97-AF65-F5344CB8AC3E}">
        <p14:creationId xmlns:p14="http://schemas.microsoft.com/office/powerpoint/2010/main" val="14504591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C8A55A8-F89D-454F-B9E1-E7CF54B0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102AE-A78B-46EA-8C91-A23D7D0C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E1A88-5987-4E03-AAA8-C868F041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275"/>
            <a:ext cx="4953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3F873-995C-43EF-9EF0-22D80616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275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01168-F51C-4E82-980D-A0A8F8EF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研究设计与技术路线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0FBF6-78FC-49D4-B350-B26F0756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438150" cy="438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4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F82701-9284-4533-9043-B064D508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42900"/>
            <a:ext cx="285750" cy="285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4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4261D6-86C8-4826-A899-F50544A4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429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A4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A40000"/>
                </a:solidFill>
                <a:latin typeface="PingFang SC"/>
                <a:ea typeface="PingFang SC"/>
                <a:cs typeface="PingFang SC"/>
              </a:rPr>
              <a:t>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274FF-FE6A-4901-9223-AD389706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857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A4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A40000"/>
                </a:solidFill>
                <a:latin typeface="PingFang SC"/>
                <a:ea typeface="PingFang SC"/>
                <a:cs typeface="PingFang SC"/>
              </a:rPr>
              <a:t>龚博士课题组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156910-FC27-43E9-A966-2AF033AE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5334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GROUP MEETING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F5341C-38DB-4BF0-96A4-FB719B40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76300"/>
            <a:ext cx="11353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228763-4870-4771-8ACF-2DF82641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34150"/>
            <a:ext cx="11353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B28351-5E7C-4F4D-ACAA-325B65A2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4840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06  /  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354F77-5545-4A9C-8179-5C4CBE8A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7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5CA2E6-97D0-466D-B339-2DE1438E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FE0AC2-C1B4-409C-9D88-CE200284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87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研究流程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04748C-24F3-4B4D-A55E-50F3C474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4785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EEE"/>
          </a:solidFill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F60D19-407A-41E1-AEFD-2E251127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97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A4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A4000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9DA3D6-DD1B-4674-9CD8-B5884E13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样本 / 数据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收集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FB7365-2719-4E86-B0A6-460AD0B1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181225"/>
            <a:ext cx="647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6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31772A-8FA5-4384-AD32-220D15DB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4785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EEE"/>
          </a:solidFill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272BC1-DACA-45F6-88A1-94EC5B6C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43100"/>
            <a:ext cx="97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A4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A4000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8DA4FE-E1EA-4937-A7EE-6991AA0F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527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分组与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纳入标准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85F482-08FC-47C0-95FF-C3CEA94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81225"/>
            <a:ext cx="647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6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52A63A-B1C0-4137-B783-68B1925D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84785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458031-FD68-42D4-B1BB-5FE24F7C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943100"/>
            <a:ext cx="97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6790EE-E86F-4E9B-9C8C-223CD5FE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527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实验 / 分析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流程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1ED0E5-6274-4537-9688-A1655E69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81225"/>
            <a:ext cx="647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6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3C8DEC-E83E-4B1B-8A89-F29CFC07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4785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EEE"/>
          </a:solidFill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A9A27C-F894-4EE3-A15B-DDCD7AF3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43100"/>
            <a:ext cx="97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A4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A4000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0B5D85-6858-4B71-ADA8-663C9FA3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527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主要指标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测量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38C173-A1CA-449D-93C4-A4A1D55E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81225"/>
            <a:ext cx="647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6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C91BA4-BFCE-46F3-AA7B-F944CE66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84785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EEE"/>
          </a:solidFill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7605FD-9A52-470E-8B75-31723883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943100"/>
            <a:ext cx="97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A4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A4000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0837B7-0BCA-4B2E-8572-59535B6A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9527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统计分析与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结果验证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6287B6-8FB9-494A-B6CD-ECD3BBE7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00475"/>
            <a:ext cx="11163300" cy="819150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F7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B777D9-7C53-452F-B4A2-4D2BD2E6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14775"/>
            <a:ext cx="1266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设计要点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E6E508-3C27-4E74-9D44-F3049512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14775"/>
            <a:ext cx="929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研究类型：［前瞻 / 回顾 / 实验 / 计算］    样本量：［n=…］    主要结局：［…］    统计方法：［…］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DF676F-9B2D-4483-A1F2-A952EDD4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111633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7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B4A687-C3E6-4CE5-B712-F2CAF96F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8E605E-7772-45A1-BCFB-65152512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1087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时间安排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B3F752-42B9-4232-B0D6-C3A82E96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0DB87E-7102-4A5E-AE37-C0D769DF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6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5B51C3-AFD5-4545-8678-D34EFAEA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准备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BCB09D4-39FF-4F65-9398-E7896A90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34075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［起止时间］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0F1E747-CE7E-4297-AA6A-A3C58966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4673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D9A1CF7-B748-491C-A2F0-61140707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3911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9379EE0-E197-41D9-BA52-B6D1C0B6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6578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采集 / 实验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AD6C95F-FD45-48B0-9ED6-C55AF0F3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934075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［起止时间］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1CBF8A1-E1EF-4C64-843D-103FDF6E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4673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9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6E87A81-782F-4F1A-80A3-95EFE6B5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3911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6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6056AF3-50BB-4E5D-AB89-4E0D6E61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6578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分析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E8AED42-CB52-4060-A59A-FF6FEF9E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934075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［起止时间］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A8CC433-8EB6-48E0-9F61-6731804D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4673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9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6850C5A-AA25-494C-9571-1C6894CA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3911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6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9DFC2F8-E730-485A-97CE-4AB9CC14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6578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验证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220BE32-D814-4581-87E5-9D279D5B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934075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［起止时间］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8C681C2-0E89-45D7-9575-5B34C165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4673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9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183C056-3F84-4859-BE8A-DAB08ED6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3911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6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BA28946-5D2D-400D-9CCA-C2392537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6578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汇报 / 投稿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CCA1006-299B-4951-AEFB-3C147D2D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934075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［起止时间］</a:t>
            </a:r>
          </a:p>
        </p:txBody>
      </p:sp>
    </p:spTree>
    <p:extLst>
      <p:ext uri="{BB962C8B-B14F-4D97-AF65-F5344CB8AC3E}">
        <p14:creationId xmlns:p14="http://schemas.microsoft.com/office/powerpoint/2010/main" val="13638644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F5A9636-1CB8-466E-A016-6602FD56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1203B-E1E5-4511-8A6A-6B8D3FCF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9B6D93-6FE0-446B-BD85-A30F48C5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275"/>
            <a:ext cx="4953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77C17-2B7C-4030-B8AA-4CA279E5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275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E6B45-E04A-4261-AD28-9EF0814F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阶段进展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314E22-C472-4DE2-9499-317A7125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438150" cy="438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4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BB25E-E6B0-4738-B0F8-BF92EBFF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42900"/>
            <a:ext cx="285750" cy="285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4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CC9E1-93D1-458C-AAA2-DDCC9AAC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429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A4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A40000"/>
                </a:solidFill>
                <a:latin typeface="PingFang SC"/>
                <a:ea typeface="PingFang SC"/>
                <a:cs typeface="PingFang SC"/>
              </a:rPr>
              <a:t>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6B3CB7-A2A4-454D-BF57-7DD3E4ED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857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A4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A40000"/>
                </a:solidFill>
                <a:latin typeface="PingFang SC"/>
                <a:ea typeface="PingFang SC"/>
                <a:cs typeface="PingFang SC"/>
              </a:rPr>
              <a:t>龚博士课题组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99EFD2-9D3B-4CDD-BC7D-E6BA5DF6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5334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GROUP MEETING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A709D-6BEA-4154-B77F-FF1AE307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76300"/>
            <a:ext cx="11353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807163-5E67-4B01-9026-4AB8A360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34150"/>
            <a:ext cx="11353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8D1FFF-1956-4076-AF71-06F2C752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4840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07  /  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4C5A9F-9D7F-4CDF-8AFD-B294E830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7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3E420F-860C-4E9D-94E5-3C3A9D3C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92F681-3435-4282-9B05-6DDBB4A4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87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本阶段工作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D950EC-B837-4B3D-910F-0A583F6B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3524250" cy="2609850"/>
          </a:xfrm>
          <a:prstGeom xmlns:a="http://schemas.openxmlformats.org/drawingml/2006/main" prst="roundRect">
            <a:avLst>
              <a:gd name="adj" fmla="val 1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977EF4-41D9-4CC6-AB2F-63AB4415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3524250" cy="409575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7E0B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AFE2B7-10A0-4469-85D5-F2995F1F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  研究任务一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0CC9D3-7DD5-460F-A564-146C539B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［阶段目标或关键问题］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CD25C0-4357-4E7E-8372-0D9A9AC6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31242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已完成：［填写已完成工作］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当前结果：［填写阶段结果］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待解决：［填写遇到的问题］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C27215-F774-4B46-B671-9329804D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3105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完成度：［填写 %］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D780A4-F710-43BD-96C6-28EBC413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31051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3E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9A24D6-C95D-4D9A-9605-D59C5D4A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00200"/>
            <a:ext cx="3524250" cy="2609850"/>
          </a:xfrm>
          <a:prstGeom xmlns:a="http://schemas.openxmlformats.org/drawingml/2006/main" prst="roundRect">
            <a:avLst>
              <a:gd name="adj" fmla="val 1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C0474C-D8B6-485F-A731-803208E1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00200"/>
            <a:ext cx="3524250" cy="409575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216FAC-8CD8-429E-871C-05D94C2C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2877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  研究任务二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DDA169-6F79-4C8D-B0E6-0145BE52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62175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［阶段目标或关键问题］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FD971E-6A88-4043-AEA6-42001563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05100"/>
            <a:ext cx="31242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已完成：［填写已完成工作］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当前结果：［填写阶段结果］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待解决：［填写遇到的问题］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E00D3D-7A81-4E9D-9847-600F6512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76650"/>
            <a:ext cx="3105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完成度：［填写 %］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C8B5AF-71AA-4FFC-B240-558F0F80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24300"/>
            <a:ext cx="31051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3E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6BFD26-09E2-435F-BE65-2B20C0EE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00200"/>
            <a:ext cx="3524250" cy="2609850"/>
          </a:xfrm>
          <a:prstGeom xmlns:a="http://schemas.openxmlformats.org/drawingml/2006/main" prst="roundRect">
            <a:avLst>
              <a:gd name="adj" fmla="val 1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488860-7B00-4320-95CC-148EEE92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00200"/>
            <a:ext cx="3524250" cy="409575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7E0B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3B0CB4-E906-4E05-8ED7-73F8E79A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2877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  研究任务三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4E0755-6010-4EB4-A5A9-DE6A32B0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62175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［阶段目标或关键问题］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BE24CE-445D-4CE0-B5BB-21FD9D2C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05100"/>
            <a:ext cx="31242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已完成：［填写已完成工作］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当前结果：［填写阶段结果］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待解决：［填写遇到的问题］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314413-1DE9-4545-B8ED-973C8D10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76650"/>
            <a:ext cx="3105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完成度：［填写 %］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45CFE0-77D1-4723-99A9-26E68470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24300"/>
            <a:ext cx="31051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3E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DA7B3F-9C04-4ECC-973F-76086C98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14850"/>
            <a:ext cx="111633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7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A36614-94A4-4B7C-9D74-65E4FB98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1485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66AC8E-E5FE-407F-9566-79DF4BDF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1087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需要组会讨论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463753-C382-4590-97DB-23FD39AD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57537DD-2888-41E7-8C03-F3542479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?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76499C-E67B-4D02-80D7-0DA889D2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29200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［需要判断的结果或方案］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B3B650-F24A-4C54-A816-BC6BE317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48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9335B0-0209-4EF9-B8C0-45A94BEA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48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?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91F1E8-B2A8-404E-95BB-69C68A77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29200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［需要的资源、协作或方法建议］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2B26E73-3C83-4E24-B2AC-481DF932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48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8C9631A-4B1F-4687-B96F-842AF495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48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?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B628933-ADAA-4B49-83BC-FB5B9218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029200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［近期需要拍板的决策］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AEFEE98-CDF2-4E30-9CCD-3F0FDE8F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1114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进展比例仅作示例；使用前按实际任务更新。</a:t>
            </a:r>
          </a:p>
        </p:txBody>
      </p:sp>
    </p:spTree>
    <p:extLst>
      <p:ext uri="{BB962C8B-B14F-4D97-AF65-F5344CB8AC3E}">
        <p14:creationId xmlns:p14="http://schemas.microsoft.com/office/powerpoint/2010/main" val="19457563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CFDC43-BE7A-4C6B-802A-C77845A4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D0320-EAEB-4E8B-9D03-D22DFC13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A93B0-EF12-4232-BC4B-3C73BFDA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275"/>
            <a:ext cx="4953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54750-0AE3-44F5-9F7B-51FDF34A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275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E6039-69E9-4F16-8F58-15DD9A0A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研究结果｜图像 / 表型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7C9DF3-50C6-4042-B33A-ED42FE41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438150" cy="438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4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39F3D9-238F-4CB9-BFBF-19B5854C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42900"/>
            <a:ext cx="285750" cy="285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4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1F4A6-904A-45E5-8E8E-CEF01FE3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429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A4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A40000"/>
                </a:solidFill>
                <a:latin typeface="PingFang SC"/>
                <a:ea typeface="PingFang SC"/>
                <a:cs typeface="PingFang SC"/>
              </a:rPr>
              <a:t>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172FD9-D637-4B79-99C5-2F40E600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857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A4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A40000"/>
                </a:solidFill>
                <a:latin typeface="PingFang SC"/>
                <a:ea typeface="PingFang SC"/>
                <a:cs typeface="PingFang SC"/>
              </a:rPr>
              <a:t>龚博士课题组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ADEC76-8A6C-41A9-8FF2-9DCCEFEC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5334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GROUP MEETING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DD0315-D79B-421F-A06E-2236B9D6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76300"/>
            <a:ext cx="11353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152020-33C3-40F0-B13B-40B8CD45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34150"/>
            <a:ext cx="11353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F9F068-615B-4CD5-A55F-F63F504F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4840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08  /  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E5E0F3-8A88-46BB-9E65-C9FA60D0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11163300" cy="51435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7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69666F-100D-409F-B173-AC887C68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结果标题：［用一句话写出本页最重要的观察］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9588F3-AF42-4A6C-A9E6-CC4E3A0D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71247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7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B51227-783B-4551-B4EB-EAB59948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77F300-ED3B-4061-8F31-BE0CDF9B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95475"/>
            <a:ext cx="683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代表性图像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11D528-852A-4038-8BD7-88318BF9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7124700" cy="3028950"/>
          </a:xfrm>
          <a:prstGeom xmlns:a="http://schemas.openxmlformats.org/drawingml/2006/main" prst="roundRect">
            <a:avLst>
              <a:gd name="adj" fmla="val 1572"/>
            </a:avLst>
          </a:prstGeom>
          <a:solidFill xmlns:a="http://schemas.openxmlformats.org/drawingml/2006/main">
            <a:srgbClr val="FCF8F8"/>
          </a:solidFill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8250DB-BAEC-4AB7-AA1C-74706195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693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C86F7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86F75"/>
                </a:solidFill>
                <a:latin typeface="PingFang SC"/>
                <a:ea typeface="PingFang SC"/>
                <a:cs typeface="PingFang SC"/>
              </a:rPr>
              <a:t>原始图像 / 显微图 / 影像结果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AF4C55-EA61-4763-9DB1-3B170479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33825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替换为原始结果；标注组别、时间点、比例尺与统计 n 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7EA764-F436-4D1B-90C8-75943498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66900"/>
            <a:ext cx="37719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7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000CE1-009B-4C15-9254-0F97BC31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6690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74055A-6C18-4B40-BB50-683BF85B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95475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结果说明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2096DF-280E-41F1-A2A1-7F45B0C1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52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8314D2-8539-4FB8-A5E5-C3A0878B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526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ED0A49-DBDF-4BC4-AE5D-DE477D8F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43150"/>
            <a:ext cx="3219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观察到什么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79C6FB-E3E6-4DCF-851F-71CB99C2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28900"/>
            <a:ext cx="319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［描述可直接从图中读出的结果］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E6E3E8-DB88-4B1D-8DA0-C1EA1AFB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242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F6287C-87A3-4973-A988-FB5B23EE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242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E43D44-EFF8-448C-8DD6-45D0A092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14700"/>
            <a:ext cx="3219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组间差异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7E9697-8B39-40C5-B881-7A788992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00450"/>
            <a:ext cx="319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［给出比较对象及差异方向］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12DB89-8A9F-47BB-86FD-C8E94B99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957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7C39D9-97B8-47D2-9316-1B46D909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957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A8F14C-D2EE-4F90-9768-6F158AD3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86250"/>
            <a:ext cx="3219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统计信息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78DB0C-960E-4F55-9AC6-E7BCB6D1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72000"/>
            <a:ext cx="319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［统计方法、样本量、P 值 / CI］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87F83A-D552-4E58-926F-0D182620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00700"/>
            <a:ext cx="1116330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7E0B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A908F8-4202-4090-A2DB-EACD6616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1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本页结论  ｜  ［一句话概括，不超出数据支持范围］</a:t>
            </a:r>
          </a:p>
        </p:txBody>
      </p:sp>
    </p:spTree>
    <p:extLst>
      <p:ext uri="{BB962C8B-B14F-4D97-AF65-F5344CB8AC3E}">
        <p14:creationId xmlns:p14="http://schemas.microsoft.com/office/powerpoint/2010/main" val="18824042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C666FAE-7124-4B75-A295-6BB52DFF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AF3A0-3392-4EE5-B777-5323A410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D05A1-710C-4A62-9343-D524B914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275"/>
            <a:ext cx="4953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F65B3A-2B5A-474E-9B47-3B091FB3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275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488D3B-3330-4AF3-B5C9-42187401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研究结果｜定量分析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1C348A-E64A-4810-B95A-96B702C9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438150" cy="438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4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8B091-C900-4DA4-9FD7-CE319CED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42900"/>
            <a:ext cx="285750" cy="285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4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0A7344-BD20-46B3-AC9C-5C7E826C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429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A4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A40000"/>
                </a:solidFill>
                <a:latin typeface="PingFang SC"/>
                <a:ea typeface="PingFang SC"/>
                <a:cs typeface="PingFang SC"/>
              </a:rPr>
              <a:t>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852CA6-DA6E-403B-8D94-1E09C77D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857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A4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A40000"/>
                </a:solidFill>
                <a:latin typeface="PingFang SC"/>
                <a:ea typeface="PingFang SC"/>
                <a:cs typeface="PingFang SC"/>
              </a:rPr>
              <a:t>龚博士课题组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488E8E-8A1D-4E10-80D3-2F37F2E4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5334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GROUP MEETING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3C676D-04F8-491F-9508-309FAB3E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76300"/>
            <a:ext cx="11353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D0C1F9-0396-41E5-AF8F-54898108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34150"/>
            <a:ext cx="11353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9BAF21-7858-4828-B36A-84CB8997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4840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09  /  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DDB86A-9F8C-4245-AC6F-9EC251B7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11163300" cy="51435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7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0FF21E-E4A7-4666-A8E3-CB6BB434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结果标题：［写出比较关系或主要变化］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F5BB2D-9BC0-476F-AEDA-53517B6F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70675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7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B423BC-AA14-4C41-9A96-E34D3161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EF6121-B580-497F-9662-12E7865F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95475"/>
            <a:ext cx="678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主要结果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19BE0A-1433-4434-94CA-D35640D9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7067550" cy="3162300"/>
          </a:xfrm>
          <a:prstGeom xmlns:a="http://schemas.openxmlformats.org/drawingml/2006/main" prst="roundRect">
            <a:avLst>
              <a:gd name="adj" fmla="val 1506"/>
            </a:avLst>
          </a:prstGeom>
          <a:solidFill xmlns:a="http://schemas.openxmlformats.org/drawingml/2006/main">
            <a:srgbClr val="FCF8F8"/>
          </a:solidFill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0F3243-2973-4BB3-951F-67098707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6877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C86F7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86F75"/>
                </a:solidFill>
                <a:latin typeface="PingFang SC"/>
                <a:ea typeface="PingFang SC"/>
                <a:cs typeface="PingFang SC"/>
              </a:rPr>
              <a:t>图表占位区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5BABF9-6489-4624-9BC9-ECB3F4DE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680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插入可编辑图表或原始统计图；图注包含单位、n 值和检验方法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410E2F-691F-4AA0-8893-2163B810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66900"/>
            <a:ext cx="38290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7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F3896A-E927-4EB3-958F-062920DF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6690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29CE11-A561-4BB0-BA46-45726B44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95475"/>
            <a:ext cx="354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结果数据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94197E-723A-471D-B5AB-6259531A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24100"/>
            <a:ext cx="3829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0B13"/>
          </a:solidFill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7F70C1-EA4C-432D-B302-4D947AB3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35267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指标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0A1E61-2CE5-418D-A059-0FC6B841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35267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组别 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75AB7C-98CE-4283-87A2-B1F93F55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35267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组别 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A9D1C6-F83C-4A95-90E9-F57271BF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76550"/>
            <a:ext cx="3829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8F8"/>
          </a:solidFill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17215E-8162-48F4-92B5-F88E1648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90512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［指标 1］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B6F30C-302C-43AD-9530-89E06E0D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90512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［均值±SD］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B75E83-CEAD-4E01-ABBE-8CC2574E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90512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［均值±SD］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7E6B28-F357-459E-B157-4D01A289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29000"/>
            <a:ext cx="3829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5E978D-817B-4750-9330-7222C7FD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45757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［指标 2］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A864CB-A892-441D-9E89-9F33B819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45757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［中位数］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D52F36-57D5-4F35-BEBE-4F0EBCA9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45757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［中位数］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D02548-52BE-4AAA-B96B-58AC905E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81450"/>
            <a:ext cx="3829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8F8"/>
          </a:solidFill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A1A9D2-5EE5-4EC0-AF50-714968F8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01002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P 值 / CI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841180-82E4-431C-89D5-1B618EEE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01002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［填写］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7D0C7F-157F-4660-8024-3D283FC1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01002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［填写］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A90986-6737-4214-80F1-C7B5FC2C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43450"/>
            <a:ext cx="382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解读提示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C45BBD-B0C1-4453-A2E9-D88B5A28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67300"/>
            <a:ext cx="3829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• 比较对象：［…］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• 效应大小：［…］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• 结论边界：［…］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278357-0326-4575-A497-6E2B1013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57875"/>
            <a:ext cx="1116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数据来源 / 统计说明：［注明数据集、时间范围或分析版本］</a:t>
            </a:r>
          </a:p>
        </p:txBody>
      </p:sp>
    </p:spTree>
    <p:extLst>
      <p:ext uri="{BB962C8B-B14F-4D97-AF65-F5344CB8AC3E}">
        <p14:creationId xmlns:p14="http://schemas.microsoft.com/office/powerpoint/2010/main" val="124011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3B5A8E0-6A16-4216-883A-F2625AA2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F765B-8148-4E7E-B966-6AE659C1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3F1F1-7F2E-454D-978E-3B9E4E16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275"/>
            <a:ext cx="4953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D576F-EF18-47D6-BA58-5D37920A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5275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A91D4-63AB-495C-B87E-30256059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结论与讨论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E8481-945F-46E5-A5EB-8738C49E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438150" cy="438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4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11B40-1D51-48F5-A9AB-039D0D1F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42900"/>
            <a:ext cx="285750" cy="285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4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03B4E-47BB-4648-A05B-08F8A969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429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A4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A40000"/>
                </a:solidFill>
                <a:latin typeface="PingFang SC"/>
                <a:ea typeface="PingFang SC"/>
                <a:cs typeface="PingFang SC"/>
              </a:rPr>
              <a:t>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0BB70D-1FA6-472E-AC0C-B184DF92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857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A4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A40000"/>
                </a:solidFill>
                <a:latin typeface="PingFang SC"/>
                <a:ea typeface="PingFang SC"/>
                <a:cs typeface="PingFang SC"/>
              </a:rPr>
              <a:t>龚博士课题组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9537FF-C585-49AB-9F02-C0732F1D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5334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GROUP MEETING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2313EA-F7C0-4CBA-B0A1-107CBF7F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76300"/>
            <a:ext cx="11353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821E74-A1AA-45CD-9E35-A9A09BA8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34150"/>
            <a:ext cx="11353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521B24-3804-4C7A-BC9C-2816C547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4840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71696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1696A"/>
                </a:solidFill>
                <a:latin typeface="PingFang SC"/>
                <a:ea typeface="PingFang SC"/>
                <a:cs typeface="PingFang SC"/>
              </a:rPr>
              <a:t>10  /  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AB115C-CD6B-4087-93C8-315C820A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8580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7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5F69D6-A5D3-4CC6-86BC-64E212DB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3FF33C-EC23-4A8C-B8C4-ADE4CEBD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核心结论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AFA66F-1CD2-4EFE-ADD4-8F663F09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97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BE4EF5-F5B3-4061-9547-C4D6B035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97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467D61-B209-4ECC-86FD-33B99FCA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00200"/>
            <a:ext cx="6267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主要发现一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1C8F02-8376-45EA-96F3-410A1024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85950"/>
            <a:ext cx="623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［直接陈述由结果支持的发现］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F1028B-B8ED-49CE-AB67-8C146C93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FAC823-E21C-4E62-AF21-3859ED12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89815E-BDCD-4068-B549-34DA007D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43175"/>
            <a:ext cx="6267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主要发现二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63D1F4-E213-4069-966B-E5BC5539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28925"/>
            <a:ext cx="623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［直接陈述由结果支持的发现］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6CBC31-F49D-47B0-99A8-1A07D353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95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57EC39-BEF7-4D14-9413-D7D99129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956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C9A263-20EB-4206-A73C-6E0D2401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86150"/>
            <a:ext cx="6267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主要发现三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AF4966-CBAF-4088-B0BF-523C9104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71900"/>
            <a:ext cx="623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［直接陈述由结果支持的发现］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55619D-481A-410F-B06D-B6B8C4F0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123950"/>
            <a:ext cx="40195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7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D615E9-70D4-49A8-B465-AE9CE9E3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12395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36B05B-F933-460F-9DE4-CF0500B5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152525"/>
            <a:ext cx="373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讨论要点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74A16F-5F71-4115-A46E-164420B2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00200"/>
            <a:ext cx="4019550" cy="91440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FCF8F8"/>
          </a:solidFill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C23FA6-A4B5-4148-8963-2DB20D7C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00200"/>
            <a:ext cx="95250" cy="9144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58F3D4-B90D-471E-A9E5-DCD91E36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95450"/>
            <a:ext cx="342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意义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16306A-ECFD-4C1D-BF74-23A1AA1A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［与既有研究的关系或贡献］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E3CBFE-8A2D-4DA9-BEC1-41AAF3D4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05100"/>
            <a:ext cx="4019550" cy="91440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152C8C-8A2D-46D7-965C-0B3AAB64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05100"/>
            <a:ext cx="95250" cy="9144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C86F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A81678-2E1D-4A22-90C5-56894635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00350"/>
            <a:ext cx="342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局限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085746-F43B-49D6-814C-FA8339E2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0515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［样本、方法或外推边界］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7879C7-CD93-4E86-A49E-321C5BC2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10000"/>
            <a:ext cx="4019550" cy="91440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9C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13E97E-EE5B-467B-B2DA-3E6906D6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10000"/>
            <a:ext cx="95250" cy="9144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A4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0DAB7E0-9FDD-42BA-9FC5-236294F8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05250"/>
            <a:ext cx="342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314B07F-61FC-4D32-87AD-F1C9CB96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1005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［后续验证或补充分析］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D93F40-EA11-496D-8617-E2AE8108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14900"/>
            <a:ext cx="11163300" cy="83820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F7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518908-DC26-4433-954A-EFC9C3E8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7E0B1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7E0B13"/>
                </a:solidFill>
                <a:latin typeface="PingFang SC"/>
                <a:ea typeface="PingFang SC"/>
                <a:cs typeface="PingFang SC"/>
              </a:rPr>
              <a:t>组会希望获得的反馈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90CC5F-7ACD-4FA8-BC76-6D2C9E38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292426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92426"/>
                </a:solidFill>
                <a:latin typeface="PingFang SC"/>
                <a:ea typeface="PingFang SC"/>
                <a:cs typeface="PingFang SC"/>
              </a:rPr>
              <a:t>［把最需要讨论的问题写清楚：解释、实验设计、统计方案或资源安排］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C953ACF-ECFF-4E40-A6E8-EA4971F2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67400"/>
            <a:ext cx="1116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A4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A40000"/>
                </a:solidFill>
                <a:latin typeface="PingFang SC"/>
                <a:ea typeface="PingFang SC"/>
                <a:cs typeface="PingFang SC"/>
              </a:rPr>
              <a:t>谢谢｜欢迎讨论</a:t>
            </a:r>
          </a:p>
        </p:txBody>
      </p:sp>
    </p:spTree>
    <p:extLst>
      <p:ext uri="{BB962C8B-B14F-4D97-AF65-F5344CB8AC3E}">
        <p14:creationId xmlns:p14="http://schemas.microsoft.com/office/powerpoint/2010/main" val="8039569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2026-09-29T02:40:57.0580000Z</dcterms:created>
  <dcterms:modified xsi:type="dcterms:W3CDTF">2026-09-29T02:40:57.0580000Z</dcterms:modified>
</coreProperties>
</file>